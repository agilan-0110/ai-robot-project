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Montserrat Bold" panose="020B0604020202020204" charset="0"/>
      <p:regular r:id="rId13"/>
    </p:embeddedFont>
    <p:embeddedFont>
      <p:font typeface="Source Sans 3" panose="020B0604020202020204" charset="0"/>
      <p:regular r:id="rId14"/>
    </p:embeddedFont>
    <p:embeddedFont>
      <p:font typeface="Source Sans 3 Bold" panose="020B0604020202020204"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1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1869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we're exploring what leadership truly means — not just in theory, but in practice. We'll look at the qualities that define great leaders, how they differ from managers, and how each one of us can start developing these skills right here in college. Let's dive 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Leadership isn't about having a title or a corner office. It's about setting a vision, bringing people together, taking action, and achieving results. The key idea here is that leadership is a skill — not a position. Anyone in this room can start developing it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distinctions in leadership. A boss relies on authority and control. A leader earns trust and inspires people to give their best. Think about your project teams — who do you naturally want to follow? That's the difference we're talking about.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seven qualities form the foundation of effective leadership. We'll dive deeper into a few of them next — but notice they're all interconnected. Great communication builds trust, empathy strengthens your team, and accountability earns respect. These aren't just corporate buzzwords; they're practical skills you can practice every day.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and empathy go hand in hand. It's not enough to speak well — you need to truly listen. In your project teams, the best leaders are the ones who notice when someone is struggling and take the time to understand their perspective. That's what builds real team cohesion.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leader faces difficult decisions. The process is straightforward: understand the problem, gather facts, weigh your options, decide — and then own the result, good or bad. Accountability is what separates real leaders from those who just give orders. Your team needs to know you'll stand by your decisions.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aren't biographies — they're leadership lessons. Kalam showed us that vision and humility can coexist. Ratan Tata built an empire on integrity. Pichai leads one of the world's most complex organizations with calm adaptability. And Mandela proved that resilience and courage can change history. Each one demonstrates that leadership takes many forms.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Leadership isn't reserved for CEOs. Right now, in college, you have countless opportunities to lead. Lead your mini-project team. Organize a tech fest event. Step in when there's conflict. Join a club and take initiative. Every one of these moments is a chance to practice the qualities we've discussed today.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practical roadmap. Start small — take initiative on a task no one else wants. Work on how you communicate. Practice listening more than you speak. Own your mistakes instead of deflecting. And when things go wrong — because they will — treat every failure as a lesson. These five steps, practiced consistently, will make you a stronger leader.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 remember three things. First, great leaders inspire rather than command. Second, leadership is built on communication, integrity, responsibility, and empathy. Third, every single one of you can develop these skills through practice. Start today, start small, and be consistent. Thank you for your attention —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DED"/>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91700" y="2671862"/>
            <a:ext cx="6180181" cy="584398"/>
          </a:xfrm>
          <a:prstGeom prst="rect">
            <a:avLst/>
          </a:prstGeom>
          <a:noFill/>
          <a:ln/>
        </p:spPr>
        <p:txBody>
          <a:bodyPr wrap="none" lIns="0" tIns="0" rIns="0" bIns="0" rtlCol="0" anchor="t"/>
          <a:lstStyle/>
          <a:p>
            <a:pPr marL="0" indent="0" algn="l">
              <a:lnSpc>
                <a:spcPct val="104000"/>
              </a:lnSpc>
              <a:buNone/>
            </a:pPr>
            <a:r>
              <a:rPr lang="en-US" sz="3650" b="1" kern="0" spc="-37" dirty="0">
                <a:solidFill>
                  <a:srgbClr val="000000"/>
                </a:solidFill>
                <a:latin typeface="Montserrat Bold" pitchFamily="34" charset="0"/>
                <a:ea typeface="Montserrat Bold" pitchFamily="34" charset="-122"/>
                <a:cs typeface="Montserrat Bold" pitchFamily="34" charset="-120"/>
              </a:rPr>
              <a:t>Leadership Qualities</a:t>
            </a:r>
            <a:endParaRPr lang="en-US" sz="3650" dirty="0"/>
          </a:p>
        </p:txBody>
      </p:sp>
      <p:sp>
        <p:nvSpPr>
          <p:cNvPr id="4" name="Text 1"/>
          <p:cNvSpPr/>
          <p:nvPr/>
        </p:nvSpPr>
        <p:spPr>
          <a:xfrm>
            <a:off x="5291700" y="3338513"/>
            <a:ext cx="6180181"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000000"/>
                </a:solidFill>
                <a:latin typeface="Montserrat Bold" pitchFamily="34" charset="0"/>
                <a:ea typeface="Montserrat Bold" pitchFamily="34" charset="-122"/>
                <a:cs typeface="Montserrat Bold" pitchFamily="34" charset="-120"/>
              </a:rPr>
              <a:t>What Makes an Effective Leader?</a:t>
            </a:r>
            <a:endParaRPr lang="en-US" sz="1800" dirty="0"/>
          </a:p>
        </p:txBody>
      </p:sp>
      <p:sp>
        <p:nvSpPr>
          <p:cNvPr id="5" name="Text 2"/>
          <p:cNvSpPr/>
          <p:nvPr/>
        </p:nvSpPr>
        <p:spPr>
          <a:xfrm>
            <a:off x="5291700" y="3939183"/>
            <a:ext cx="6789766" cy="246856"/>
          </a:xfrm>
          <a:prstGeom prst="rect">
            <a:avLst/>
          </a:prstGeom>
          <a:noFill/>
          <a:ln/>
        </p:spPr>
        <p:txBody>
          <a:bodyPr wrap="none" lIns="0" tIns="0" rIns="0" bIns="0" rtlCol="0" anchor="t"/>
          <a:lstStyle/>
          <a:p>
            <a:pPr marL="0" indent="0" algn="l">
              <a:lnSpc>
                <a:spcPct val="125000"/>
              </a:lnSpc>
              <a:buNone/>
            </a:pPr>
            <a:r>
              <a:rPr lang="en-US" sz="1250" dirty="0">
                <a:solidFill>
                  <a:srgbClr val="3D3838"/>
                </a:solidFill>
                <a:latin typeface="Source Sans 3" pitchFamily="34" charset="0"/>
                <a:ea typeface="Source Sans 3" pitchFamily="34" charset="-122"/>
                <a:cs typeface="Source Sans 3" pitchFamily="34" charset="-120"/>
              </a:rPr>
              <a:t>Name · SUBASH M · 3RD YR AI&amp;DS / A · 113224072105</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19814" y="574675"/>
            <a:ext cx="10752067" cy="374253"/>
          </a:xfrm>
          <a:prstGeom prst="rect">
            <a:avLst/>
          </a:prstGeom>
          <a:noFill/>
          <a:ln/>
        </p:spPr>
        <p:txBody>
          <a:bodyPr wrap="none" lIns="0" tIns="0" rIns="0" bIns="0" rtlCol="0" anchor="t"/>
          <a:lstStyle/>
          <a:p>
            <a:pPr marL="0" indent="0" algn="l">
              <a:lnSpc>
                <a:spcPct val="104000"/>
              </a:lnSpc>
              <a:buNone/>
            </a:pPr>
            <a:r>
              <a:rPr lang="en-US" sz="2350" b="1" kern="0" spc="-24" dirty="0">
                <a:solidFill>
                  <a:srgbClr val="000000"/>
                </a:solidFill>
                <a:latin typeface="Montserrat Bold" pitchFamily="34" charset="0"/>
                <a:ea typeface="Montserrat Bold" pitchFamily="34" charset="-122"/>
                <a:cs typeface="Montserrat Bold" pitchFamily="34" charset="-120"/>
              </a:rPr>
              <a:t>What Is Leadership?</a:t>
            </a:r>
            <a:endParaRPr lang="en-US" sz="2350" dirty="0"/>
          </a:p>
        </p:txBody>
      </p:sp>
      <p:sp>
        <p:nvSpPr>
          <p:cNvPr id="3" name="Text 1"/>
          <p:cNvSpPr/>
          <p:nvPr/>
        </p:nvSpPr>
        <p:spPr>
          <a:xfrm>
            <a:off x="719814" y="1117699"/>
            <a:ext cx="11361652" cy="129580"/>
          </a:xfrm>
          <a:prstGeom prst="rect">
            <a:avLst/>
          </a:prstGeom>
          <a:noFill/>
          <a:ln/>
        </p:spPr>
        <p:txBody>
          <a:bodyPr wrap="none" lIns="0" tIns="0" rIns="0" bIns="0" rtlCol="0" anchor="t"/>
          <a:lstStyle/>
          <a:p>
            <a:pPr marL="0" indent="0" algn="l">
              <a:lnSpc>
                <a:spcPct val="103000"/>
              </a:lnSpc>
              <a:buNone/>
            </a:pPr>
            <a:r>
              <a:rPr lang="en-US" sz="800" dirty="0">
                <a:solidFill>
                  <a:srgbClr val="3D3838"/>
                </a:solidFill>
                <a:latin typeface="Source Sans 3" pitchFamily="34" charset="0"/>
                <a:ea typeface="Source Sans 3" pitchFamily="34" charset="-122"/>
                <a:cs typeface="Source Sans 3" pitchFamily="34" charset="-120"/>
              </a:rPr>
              <a:t>Leadership is the ability to </a:t>
            </a:r>
            <a:r>
              <a:rPr lang="en-US" sz="800" b="1" dirty="0">
                <a:solidFill>
                  <a:srgbClr val="3D3838"/>
                </a:solidFill>
                <a:latin typeface="Source Sans 3 Bold" pitchFamily="34" charset="0"/>
                <a:ea typeface="Source Sans 3 Bold" pitchFamily="34" charset="-122"/>
                <a:cs typeface="Source Sans 3 Bold" pitchFamily="34" charset="-120"/>
              </a:rPr>
              <a:t>influence and guide others</a:t>
            </a:r>
            <a:r>
              <a:rPr lang="en-US" sz="800" dirty="0">
                <a:solidFill>
                  <a:srgbClr val="3D3838"/>
                </a:solidFill>
                <a:latin typeface="Source Sans 3" pitchFamily="34" charset="0"/>
                <a:ea typeface="Source Sans 3" pitchFamily="34" charset="-122"/>
                <a:cs typeface="Source Sans 3" pitchFamily="34" charset="-120"/>
              </a:rPr>
              <a:t> toward a shared goal — not through authority, but through vision and trust.</a:t>
            </a:r>
            <a:endParaRPr lang="en-US" sz="800" dirty="0"/>
          </a:p>
        </p:txBody>
      </p:sp>
      <p:pic>
        <p:nvPicPr>
          <p:cNvPr id="4" name="Image 0" descr="preencoded.png"/>
          <p:cNvPicPr>
            <a:picLocks noChangeAspect="1"/>
          </p:cNvPicPr>
          <p:nvPr/>
        </p:nvPicPr>
        <p:blipFill>
          <a:blip r:embed="rId3"/>
          <a:stretch>
            <a:fillRect/>
          </a:stretch>
        </p:blipFill>
        <p:spPr>
          <a:xfrm>
            <a:off x="719814" y="1342231"/>
            <a:ext cx="10752067" cy="4716562"/>
          </a:xfrm>
          <a:prstGeom prst="rect">
            <a:avLst/>
          </a:prstGeom>
        </p:spPr>
      </p:pic>
      <p:sp>
        <p:nvSpPr>
          <p:cNvPr id="5" name="Text 2"/>
          <p:cNvSpPr/>
          <p:nvPr/>
        </p:nvSpPr>
        <p:spPr>
          <a:xfrm>
            <a:off x="3978289" y="4906365"/>
            <a:ext cx="1625031" cy="264460"/>
          </a:xfrm>
          <a:prstGeom prst="rect">
            <a:avLst/>
          </a:prstGeom>
          <a:noFill/>
          <a:ln/>
        </p:spPr>
        <p:txBody>
          <a:bodyPr wrap="none" lIns="0" tIns="0" rIns="0" bIns="0" rtlCol="0" anchor="t"/>
          <a:lstStyle/>
          <a:p>
            <a:pPr marL="0" indent="0" algn="ctr">
              <a:lnSpc>
                <a:spcPct val="104000"/>
              </a:lnSpc>
              <a:buNone/>
            </a:pPr>
            <a:r>
              <a:rPr lang="en-US" sz="1650" b="1" kern="0" spc="-17" dirty="0">
                <a:solidFill>
                  <a:srgbClr val="000000"/>
                </a:solidFill>
                <a:latin typeface="Montserrat Bold" pitchFamily="34" charset="0"/>
                <a:ea typeface="Montserrat Bold" pitchFamily="34" charset="-122"/>
                <a:cs typeface="Montserrat Bold" pitchFamily="34" charset="-120"/>
              </a:rPr>
              <a:t>People</a:t>
            </a:r>
            <a:endParaRPr lang="en-US" sz="1650" dirty="0"/>
          </a:p>
        </p:txBody>
      </p:sp>
      <p:sp>
        <p:nvSpPr>
          <p:cNvPr id="6" name="Text 3"/>
          <p:cNvSpPr/>
          <p:nvPr/>
        </p:nvSpPr>
        <p:spPr>
          <a:xfrm>
            <a:off x="3978289" y="5253590"/>
            <a:ext cx="1625031" cy="381819"/>
          </a:xfrm>
          <a:prstGeom prst="rect">
            <a:avLst/>
          </a:prstGeom>
          <a:noFill/>
          <a:ln/>
        </p:spPr>
        <p:txBody>
          <a:bodyPr wrap="square" lIns="0" tIns="0" rIns="0" bIns="0" rtlCol="0" anchor="t">
            <a:normAutofit/>
          </a:bodyPr>
          <a:lstStyle/>
          <a:p>
            <a:pPr marL="0" indent="0" algn="ctr">
              <a:lnSpc>
                <a:spcPct val="85000"/>
              </a:lnSpc>
              <a:buNone/>
            </a:pPr>
            <a:r>
              <a:rPr lang="en-US" sz="1450" dirty="0">
                <a:solidFill>
                  <a:srgbClr val="3D3838"/>
                </a:solidFill>
                <a:latin typeface="Source Sans 3" pitchFamily="34" charset="0"/>
                <a:ea typeface="Source Sans 3" pitchFamily="34" charset="-122"/>
                <a:cs typeface="Source Sans 3" pitchFamily="34" charset="-120"/>
              </a:rPr>
              <a:t>Inspire and support others</a:t>
            </a:r>
            <a:endParaRPr lang="en-US" sz="1450" dirty="0"/>
          </a:p>
        </p:txBody>
      </p:sp>
      <p:sp>
        <p:nvSpPr>
          <p:cNvPr id="7" name="Text 4"/>
          <p:cNvSpPr/>
          <p:nvPr/>
        </p:nvSpPr>
        <p:spPr>
          <a:xfrm>
            <a:off x="9140629" y="4906365"/>
            <a:ext cx="1625031" cy="264460"/>
          </a:xfrm>
          <a:prstGeom prst="rect">
            <a:avLst/>
          </a:prstGeom>
          <a:noFill/>
          <a:ln/>
        </p:spPr>
        <p:txBody>
          <a:bodyPr wrap="none" lIns="0" tIns="0" rIns="0" bIns="0" rtlCol="0" anchor="t"/>
          <a:lstStyle/>
          <a:p>
            <a:pPr marL="0" indent="0" algn="ctr">
              <a:lnSpc>
                <a:spcPct val="104000"/>
              </a:lnSpc>
              <a:buNone/>
            </a:pPr>
            <a:r>
              <a:rPr lang="en-US" sz="1650" b="1" kern="0" spc="-17" dirty="0">
                <a:solidFill>
                  <a:srgbClr val="000000"/>
                </a:solidFill>
                <a:latin typeface="Montserrat Bold" pitchFamily="34" charset="0"/>
                <a:ea typeface="Montserrat Bold" pitchFamily="34" charset="-122"/>
                <a:cs typeface="Montserrat Bold" pitchFamily="34" charset="-120"/>
              </a:rPr>
              <a:t>Results</a:t>
            </a:r>
            <a:endParaRPr lang="en-US" sz="1650" dirty="0"/>
          </a:p>
        </p:txBody>
      </p:sp>
      <p:sp>
        <p:nvSpPr>
          <p:cNvPr id="8" name="Text 5"/>
          <p:cNvSpPr/>
          <p:nvPr/>
        </p:nvSpPr>
        <p:spPr>
          <a:xfrm>
            <a:off x="9140629" y="5253590"/>
            <a:ext cx="1625031" cy="381819"/>
          </a:xfrm>
          <a:prstGeom prst="rect">
            <a:avLst/>
          </a:prstGeom>
          <a:noFill/>
          <a:ln/>
        </p:spPr>
        <p:txBody>
          <a:bodyPr wrap="square" lIns="0" tIns="0" rIns="0" bIns="0" rtlCol="0" anchor="t">
            <a:normAutofit/>
          </a:bodyPr>
          <a:lstStyle/>
          <a:p>
            <a:pPr marL="0" indent="0" algn="ctr">
              <a:lnSpc>
                <a:spcPct val="85000"/>
              </a:lnSpc>
              <a:buNone/>
            </a:pPr>
            <a:r>
              <a:rPr lang="en-US" sz="1450" dirty="0">
                <a:solidFill>
                  <a:srgbClr val="3D3838"/>
                </a:solidFill>
                <a:latin typeface="Source Sans 3" pitchFamily="34" charset="0"/>
                <a:ea typeface="Source Sans 3" pitchFamily="34" charset="-122"/>
                <a:cs typeface="Source Sans 3" pitchFamily="34" charset="-120"/>
              </a:rPr>
              <a:t>Achieve meaningful outcomes together</a:t>
            </a:r>
            <a:endParaRPr lang="en-US" sz="1450" dirty="0"/>
          </a:p>
        </p:txBody>
      </p:sp>
      <p:sp>
        <p:nvSpPr>
          <p:cNvPr id="9" name="Text 6"/>
          <p:cNvSpPr/>
          <p:nvPr/>
        </p:nvSpPr>
        <p:spPr>
          <a:xfrm>
            <a:off x="1454018" y="1766143"/>
            <a:ext cx="1625032" cy="264460"/>
          </a:xfrm>
          <a:prstGeom prst="rect">
            <a:avLst/>
          </a:prstGeom>
          <a:noFill/>
          <a:ln/>
        </p:spPr>
        <p:txBody>
          <a:bodyPr wrap="none" lIns="0" tIns="0" rIns="0" bIns="0" rtlCol="0" anchor="t"/>
          <a:lstStyle/>
          <a:p>
            <a:pPr marL="0" indent="0" algn="ctr">
              <a:lnSpc>
                <a:spcPct val="104000"/>
              </a:lnSpc>
              <a:buNone/>
            </a:pPr>
            <a:r>
              <a:rPr lang="en-US" sz="1650" b="1" kern="0" spc="-17" dirty="0">
                <a:solidFill>
                  <a:srgbClr val="000000"/>
                </a:solidFill>
                <a:latin typeface="Montserrat Bold" pitchFamily="34" charset="0"/>
                <a:ea typeface="Montserrat Bold" pitchFamily="34" charset="-122"/>
                <a:cs typeface="Montserrat Bold" pitchFamily="34" charset="-120"/>
              </a:rPr>
              <a:t>Vision</a:t>
            </a:r>
            <a:endParaRPr lang="en-US" sz="1650" dirty="0"/>
          </a:p>
        </p:txBody>
      </p:sp>
      <p:sp>
        <p:nvSpPr>
          <p:cNvPr id="10" name="Text 7"/>
          <p:cNvSpPr/>
          <p:nvPr/>
        </p:nvSpPr>
        <p:spPr>
          <a:xfrm>
            <a:off x="1454018" y="2113368"/>
            <a:ext cx="1625032" cy="190909"/>
          </a:xfrm>
          <a:prstGeom prst="rect">
            <a:avLst/>
          </a:prstGeom>
          <a:noFill/>
          <a:ln/>
        </p:spPr>
        <p:txBody>
          <a:bodyPr wrap="none" lIns="0" tIns="0" rIns="0" bIns="0" rtlCol="0" anchor="t"/>
          <a:lstStyle/>
          <a:p>
            <a:pPr marL="0" indent="0" algn="ctr">
              <a:lnSpc>
                <a:spcPct val="85000"/>
              </a:lnSpc>
              <a:buNone/>
            </a:pPr>
            <a:r>
              <a:rPr lang="en-US" sz="1450" dirty="0">
                <a:solidFill>
                  <a:srgbClr val="3D3838"/>
                </a:solidFill>
                <a:latin typeface="Source Sans 3" pitchFamily="34" charset="0"/>
                <a:ea typeface="Source Sans 3" pitchFamily="34" charset="-122"/>
                <a:cs typeface="Source Sans 3" pitchFamily="34" charset="-120"/>
              </a:rPr>
              <a:t>Set a clear direction</a:t>
            </a:r>
            <a:endParaRPr lang="en-US" sz="1450" dirty="0"/>
          </a:p>
        </p:txBody>
      </p:sp>
      <p:sp>
        <p:nvSpPr>
          <p:cNvPr id="11" name="Text 8"/>
          <p:cNvSpPr/>
          <p:nvPr/>
        </p:nvSpPr>
        <p:spPr>
          <a:xfrm>
            <a:off x="6595668" y="1766143"/>
            <a:ext cx="1625031" cy="264460"/>
          </a:xfrm>
          <a:prstGeom prst="rect">
            <a:avLst/>
          </a:prstGeom>
          <a:noFill/>
          <a:ln/>
        </p:spPr>
        <p:txBody>
          <a:bodyPr wrap="none" lIns="0" tIns="0" rIns="0" bIns="0" rtlCol="0" anchor="t"/>
          <a:lstStyle/>
          <a:p>
            <a:pPr marL="0" indent="0" algn="ctr">
              <a:lnSpc>
                <a:spcPct val="104000"/>
              </a:lnSpc>
              <a:buNone/>
            </a:pPr>
            <a:r>
              <a:rPr lang="en-US" sz="1650" b="1" kern="0" spc="-17" dirty="0">
                <a:solidFill>
                  <a:srgbClr val="000000"/>
                </a:solidFill>
                <a:latin typeface="Montserrat Bold" pitchFamily="34" charset="0"/>
                <a:ea typeface="Montserrat Bold" pitchFamily="34" charset="-122"/>
                <a:cs typeface="Montserrat Bold" pitchFamily="34" charset="-120"/>
              </a:rPr>
              <a:t>Action</a:t>
            </a:r>
            <a:endParaRPr lang="en-US" sz="1650" dirty="0"/>
          </a:p>
        </p:txBody>
      </p:sp>
      <p:sp>
        <p:nvSpPr>
          <p:cNvPr id="12" name="Text 9"/>
          <p:cNvSpPr/>
          <p:nvPr/>
        </p:nvSpPr>
        <p:spPr>
          <a:xfrm>
            <a:off x="6595668" y="2113368"/>
            <a:ext cx="1625031" cy="381818"/>
          </a:xfrm>
          <a:prstGeom prst="rect">
            <a:avLst/>
          </a:prstGeom>
          <a:noFill/>
          <a:ln/>
        </p:spPr>
        <p:txBody>
          <a:bodyPr wrap="square" lIns="0" tIns="0" rIns="0" bIns="0" rtlCol="0" anchor="t">
            <a:normAutofit/>
          </a:bodyPr>
          <a:lstStyle/>
          <a:p>
            <a:pPr marL="0" indent="0" algn="ctr">
              <a:lnSpc>
                <a:spcPct val="85000"/>
              </a:lnSpc>
              <a:buNone/>
            </a:pPr>
            <a:r>
              <a:rPr lang="en-US" sz="1450" dirty="0">
                <a:solidFill>
                  <a:srgbClr val="3D3838"/>
                </a:solidFill>
                <a:latin typeface="Source Sans 3" pitchFamily="34" charset="0"/>
                <a:ea typeface="Source Sans 3" pitchFamily="34" charset="-122"/>
                <a:cs typeface="Source Sans 3" pitchFamily="34" charset="-120"/>
              </a:rPr>
              <a:t>Take initiative and drive momentum</a:t>
            </a:r>
            <a:endParaRPr lang="en-US" sz="1450" dirty="0"/>
          </a:p>
        </p:txBody>
      </p:sp>
      <p:sp>
        <p:nvSpPr>
          <p:cNvPr id="13" name="Text 10"/>
          <p:cNvSpPr/>
          <p:nvPr/>
        </p:nvSpPr>
        <p:spPr>
          <a:xfrm>
            <a:off x="719814" y="6153745"/>
            <a:ext cx="11361652" cy="129580"/>
          </a:xfrm>
          <a:prstGeom prst="rect">
            <a:avLst/>
          </a:prstGeom>
          <a:noFill/>
          <a:ln/>
        </p:spPr>
        <p:txBody>
          <a:bodyPr wrap="none" lIns="0" tIns="0" rIns="0" bIns="0" rtlCol="0" anchor="t"/>
          <a:lstStyle/>
          <a:p>
            <a:pPr marL="0" indent="0" algn="l">
              <a:lnSpc>
                <a:spcPct val="103000"/>
              </a:lnSpc>
              <a:buNone/>
            </a:pPr>
            <a:r>
              <a:rPr lang="en-US" sz="800" dirty="0">
                <a:solidFill>
                  <a:srgbClr val="3D3838"/>
                </a:solidFill>
                <a:latin typeface="Source Sans 3" pitchFamily="34" charset="0"/>
                <a:ea typeface="Source Sans 3" pitchFamily="34" charset="-122"/>
                <a:cs typeface="Source Sans 3" pitchFamily="34" charset="-120"/>
              </a:rPr>
              <a:t>Anyone — including you — can develop these skills.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19814" y="1178421"/>
            <a:ext cx="10752067" cy="584398"/>
          </a:xfrm>
          <a:prstGeom prst="rect">
            <a:avLst/>
          </a:prstGeom>
          <a:noFill/>
          <a:ln/>
        </p:spPr>
        <p:txBody>
          <a:bodyPr wrap="none" lIns="0" tIns="0" rIns="0" bIns="0" rtlCol="0" anchor="t"/>
          <a:lstStyle/>
          <a:p>
            <a:pPr marL="0" indent="0" algn="l">
              <a:lnSpc>
                <a:spcPct val="104000"/>
              </a:lnSpc>
              <a:buNone/>
            </a:pPr>
            <a:r>
              <a:rPr lang="en-US" sz="3650" b="1" kern="0" spc="-37" dirty="0">
                <a:solidFill>
                  <a:srgbClr val="000000"/>
                </a:solidFill>
                <a:latin typeface="Montserrat Bold" pitchFamily="34" charset="0"/>
                <a:ea typeface="Montserrat Bold" pitchFamily="34" charset="-122"/>
                <a:cs typeface="Montserrat Bold" pitchFamily="34" charset="-120"/>
              </a:rPr>
              <a:t>Leader vs. Boss</a:t>
            </a:r>
            <a:endParaRPr lang="en-US" sz="3650" dirty="0"/>
          </a:p>
        </p:txBody>
      </p:sp>
      <p:sp>
        <p:nvSpPr>
          <p:cNvPr id="3" name="Shape 1"/>
          <p:cNvSpPr/>
          <p:nvPr/>
        </p:nvSpPr>
        <p:spPr>
          <a:xfrm>
            <a:off x="571684" y="2071291"/>
            <a:ext cx="5421375" cy="2605584"/>
          </a:xfrm>
          <a:prstGeom prst="roundRect">
            <a:avLst>
              <a:gd name="adj" fmla="val 1184"/>
            </a:avLst>
          </a:prstGeom>
          <a:solidFill>
            <a:srgbClr val="2D2E34"/>
          </a:solidFill>
          <a:ln/>
        </p:spPr>
      </p:sp>
      <p:sp>
        <p:nvSpPr>
          <p:cNvPr id="4" name="Text 2"/>
          <p:cNvSpPr/>
          <p:nvPr/>
        </p:nvSpPr>
        <p:spPr>
          <a:xfrm>
            <a:off x="777359" y="2276971"/>
            <a:ext cx="5010025"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FFFFFF"/>
                </a:solidFill>
                <a:latin typeface="Montserrat Bold" pitchFamily="34" charset="0"/>
                <a:ea typeface="Montserrat Bold" pitchFamily="34" charset="-122"/>
                <a:cs typeface="Montserrat Bold" pitchFamily="34" charset="-120"/>
              </a:rPr>
              <a:t>The Leader</a:t>
            </a:r>
            <a:endParaRPr lang="en-US" sz="1800" dirty="0"/>
          </a:p>
        </p:txBody>
      </p:sp>
      <p:sp>
        <p:nvSpPr>
          <p:cNvPr id="5" name="Text 3"/>
          <p:cNvSpPr/>
          <p:nvPr/>
        </p:nvSpPr>
        <p:spPr>
          <a:xfrm>
            <a:off x="777359" y="2774851"/>
            <a:ext cx="5010025" cy="1830090"/>
          </a:xfrm>
          <a:prstGeom prst="rect">
            <a:avLst/>
          </a:prstGeom>
          <a:noFill/>
          <a:ln/>
        </p:spPr>
        <p:txBody>
          <a:bodyPr wrap="square" lIns="0" tIns="82276" rIns="0" bIns="0" rtlCol="0" anchor="t">
            <a:normAutofit/>
          </a:bodyPr>
          <a:lstStyle/>
          <a:p>
            <a:pPr marL="325120" indent="-325120" algn="l">
              <a:lnSpc>
                <a:spcPct val="125000"/>
              </a:lnSpc>
              <a:buSzPct val="100000"/>
              <a:buChar char="•"/>
            </a:pPr>
            <a:r>
              <a:rPr lang="en-US" sz="1600" dirty="0">
                <a:solidFill>
                  <a:srgbClr val="FFFFFF"/>
                </a:solidFill>
                <a:latin typeface="Source Sans 3" pitchFamily="34" charset="0"/>
                <a:ea typeface="Source Sans 3" pitchFamily="34" charset="-122"/>
                <a:cs typeface="Source Sans 3" pitchFamily="34" charset="-120"/>
              </a:rPr>
              <a:t>Inspires and motivates</a:t>
            </a:r>
            <a:endParaRPr lang="en-US" sz="1600" dirty="0"/>
          </a:p>
          <a:p>
            <a:pPr marL="325120" indent="-325120" algn="l">
              <a:lnSpc>
                <a:spcPct val="125000"/>
              </a:lnSpc>
              <a:buSzPct val="100000"/>
              <a:buChar char="•"/>
            </a:pPr>
            <a:r>
              <a:rPr lang="en-US" sz="1600" dirty="0">
                <a:solidFill>
                  <a:srgbClr val="FFFFFF"/>
                </a:solidFill>
                <a:latin typeface="Source Sans 3" pitchFamily="34" charset="0"/>
                <a:ea typeface="Source Sans 3" pitchFamily="34" charset="-122"/>
                <a:cs typeface="Source Sans 3" pitchFamily="34" charset="-120"/>
              </a:rPr>
              <a:t>Listens actively</a:t>
            </a:r>
            <a:endParaRPr lang="en-US" sz="1600" dirty="0"/>
          </a:p>
          <a:p>
            <a:pPr marL="325120" indent="-325120" algn="l">
              <a:lnSpc>
                <a:spcPct val="125000"/>
              </a:lnSpc>
              <a:buSzPct val="100000"/>
              <a:buChar char="•"/>
            </a:pPr>
            <a:r>
              <a:rPr lang="en-US" sz="1600" dirty="0">
                <a:solidFill>
                  <a:srgbClr val="FFFFFF"/>
                </a:solidFill>
                <a:latin typeface="Source Sans 3" pitchFamily="34" charset="0"/>
                <a:ea typeface="Source Sans 3" pitchFamily="34" charset="-122"/>
                <a:cs typeface="Source Sans 3" pitchFamily="34" charset="-120"/>
              </a:rPr>
              <a:t>Guides and develops people</a:t>
            </a:r>
            <a:endParaRPr lang="en-US" sz="1600" dirty="0"/>
          </a:p>
          <a:p>
            <a:pPr marL="325120" indent="-325120" algn="l">
              <a:lnSpc>
                <a:spcPct val="125000"/>
              </a:lnSpc>
              <a:buSzPct val="100000"/>
              <a:buChar char="•"/>
            </a:pPr>
            <a:r>
              <a:rPr lang="en-US" sz="1600" dirty="0">
                <a:solidFill>
                  <a:srgbClr val="FFFFFF"/>
                </a:solidFill>
                <a:latin typeface="Source Sans 3" pitchFamily="34" charset="0"/>
                <a:ea typeface="Source Sans 3" pitchFamily="34" charset="-122"/>
                <a:cs typeface="Source Sans 3" pitchFamily="34" charset="-120"/>
              </a:rPr>
              <a:t>Takes responsibility</a:t>
            </a:r>
            <a:endParaRPr lang="en-US" sz="1600" dirty="0"/>
          </a:p>
          <a:p>
            <a:pPr marL="325120" indent="-325120" algn="l">
              <a:lnSpc>
                <a:spcPct val="125000"/>
              </a:lnSpc>
              <a:buSzPct val="100000"/>
              <a:buChar char="•"/>
            </a:pPr>
            <a:r>
              <a:rPr lang="en-US" sz="1600" dirty="0">
                <a:solidFill>
                  <a:srgbClr val="FFFFFF"/>
                </a:solidFill>
                <a:latin typeface="Source Sans 3" pitchFamily="34" charset="0"/>
                <a:ea typeface="Source Sans 3" pitchFamily="34" charset="-122"/>
                <a:cs typeface="Source Sans 3" pitchFamily="34" charset="-120"/>
              </a:rPr>
              <a:t>Works </a:t>
            </a:r>
            <a:r>
              <a:rPr lang="en-US" sz="1600" i="1" dirty="0">
                <a:solidFill>
                  <a:srgbClr val="FFFFFF"/>
                </a:solidFill>
                <a:latin typeface="Source Sans 3" pitchFamily="34" charset="0"/>
                <a:ea typeface="Source Sans 3" pitchFamily="34" charset="-122"/>
                <a:cs typeface="Source Sans 3" pitchFamily="34" charset="-120"/>
              </a:rPr>
              <a:t>with</a:t>
            </a:r>
            <a:r>
              <a:rPr lang="en-US" sz="1600" dirty="0">
                <a:solidFill>
                  <a:srgbClr val="FFFFFF"/>
                </a:solidFill>
                <a:latin typeface="Source Sans 3" pitchFamily="34" charset="0"/>
                <a:ea typeface="Source Sans 3" pitchFamily="34" charset="-122"/>
                <a:cs typeface="Source Sans 3" pitchFamily="34" charset="-120"/>
              </a:rPr>
              <a:t> the team</a:t>
            </a:r>
            <a:endParaRPr lang="en-US" sz="1600" dirty="0"/>
          </a:p>
        </p:txBody>
      </p:sp>
      <p:sp>
        <p:nvSpPr>
          <p:cNvPr id="6" name="Text 4"/>
          <p:cNvSpPr/>
          <p:nvPr/>
        </p:nvSpPr>
        <p:spPr>
          <a:xfrm>
            <a:off x="6353115" y="2276971"/>
            <a:ext cx="5125116"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000000"/>
                </a:solidFill>
                <a:latin typeface="Montserrat Bold" pitchFamily="34" charset="0"/>
                <a:ea typeface="Montserrat Bold" pitchFamily="34" charset="-122"/>
                <a:cs typeface="Montserrat Bold" pitchFamily="34" charset="-120"/>
              </a:rPr>
              <a:t>The Boss</a:t>
            </a:r>
            <a:endParaRPr lang="en-US" sz="1800" dirty="0"/>
          </a:p>
        </p:txBody>
      </p:sp>
      <p:sp>
        <p:nvSpPr>
          <p:cNvPr id="7" name="Text 5"/>
          <p:cNvSpPr/>
          <p:nvPr/>
        </p:nvSpPr>
        <p:spPr>
          <a:xfrm>
            <a:off x="6353115" y="2774851"/>
            <a:ext cx="5125116" cy="1830090"/>
          </a:xfrm>
          <a:prstGeom prst="rect">
            <a:avLst/>
          </a:prstGeom>
          <a:noFill/>
          <a:ln/>
        </p:spPr>
        <p:txBody>
          <a:bodyPr wrap="square" lIns="0" tIns="82276" rIns="0" bIns="0" rtlCol="0" anchor="t">
            <a:normAutofit/>
          </a:bodyPr>
          <a:lstStyle/>
          <a:p>
            <a:pPr marL="325120" indent="-325120" algn="l">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Gives orders</a:t>
            </a:r>
            <a:endParaRPr lang="en-US" sz="1600" dirty="0"/>
          </a:p>
          <a:p>
            <a:pPr marL="325120" indent="-325120" algn="l">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Focuses on authority</a:t>
            </a:r>
            <a:endParaRPr lang="en-US" sz="1600" dirty="0"/>
          </a:p>
          <a:p>
            <a:pPr marL="325120" indent="-325120" algn="l">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Controls outcomes</a:t>
            </a:r>
            <a:endParaRPr lang="en-US" sz="1600" dirty="0"/>
          </a:p>
          <a:p>
            <a:pPr marL="325120" indent="-325120" algn="l">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Assigns blame</a:t>
            </a:r>
            <a:endParaRPr lang="en-US" sz="1600" dirty="0"/>
          </a:p>
          <a:p>
            <a:pPr marL="325120" indent="-325120" algn="l">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Works </a:t>
            </a:r>
            <a:r>
              <a:rPr lang="en-US" sz="1600" i="1" dirty="0">
                <a:solidFill>
                  <a:srgbClr val="3D3838"/>
                </a:solidFill>
                <a:latin typeface="Source Sans 3" pitchFamily="34" charset="0"/>
                <a:ea typeface="Source Sans 3" pitchFamily="34" charset="-122"/>
                <a:cs typeface="Source Sans 3" pitchFamily="34" charset="-120"/>
              </a:rPr>
              <a:t>above</a:t>
            </a:r>
            <a:r>
              <a:rPr lang="en-US" sz="1600" dirty="0">
                <a:solidFill>
                  <a:srgbClr val="3D3838"/>
                </a:solidFill>
                <a:latin typeface="Source Sans 3" pitchFamily="34" charset="0"/>
                <a:ea typeface="Source Sans 3" pitchFamily="34" charset="-122"/>
                <a:cs typeface="Source Sans 3" pitchFamily="34" charset="-120"/>
              </a:rPr>
              <a:t> the team</a:t>
            </a:r>
            <a:endParaRPr lang="en-US" sz="1600" dirty="0"/>
          </a:p>
        </p:txBody>
      </p:sp>
      <p:sp>
        <p:nvSpPr>
          <p:cNvPr id="8" name="Text 6"/>
          <p:cNvSpPr/>
          <p:nvPr/>
        </p:nvSpPr>
        <p:spPr>
          <a:xfrm>
            <a:off x="1028277" y="5139630"/>
            <a:ext cx="11053188" cy="308471"/>
          </a:xfrm>
          <a:prstGeom prst="rect">
            <a:avLst/>
          </a:prstGeom>
          <a:noFill/>
          <a:ln/>
        </p:spPr>
        <p:txBody>
          <a:bodyPr wrap="none" lIns="0" tIns="0" rIns="0" bIns="0" rtlCol="0" anchor="t"/>
          <a:lstStyle/>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People follow leaders because they </a:t>
            </a:r>
            <a:r>
              <a:rPr lang="en-US" sz="1600" b="1" dirty="0">
                <a:solidFill>
                  <a:srgbClr val="3D3838"/>
                </a:solidFill>
                <a:latin typeface="Source Sans 3 Bold" pitchFamily="34" charset="0"/>
                <a:ea typeface="Source Sans 3 Bold" pitchFamily="34" charset="-122"/>
                <a:cs typeface="Source Sans 3 Bold" pitchFamily="34" charset="-120"/>
              </a:rPr>
              <a:t>trust them</a:t>
            </a:r>
            <a:r>
              <a:rPr lang="en-US" sz="1600" dirty="0">
                <a:solidFill>
                  <a:srgbClr val="3D3838"/>
                </a:solidFill>
                <a:latin typeface="Source Sans 3" pitchFamily="34" charset="0"/>
                <a:ea typeface="Source Sans 3" pitchFamily="34" charset="-122"/>
                <a:cs typeface="Source Sans 3" pitchFamily="34" charset="-120"/>
              </a:rPr>
              <a:t> — not simply because they have authority.</a:t>
            </a:r>
            <a:endParaRPr lang="en-US" sz="1600" dirty="0"/>
          </a:p>
        </p:txBody>
      </p:sp>
      <p:sp>
        <p:nvSpPr>
          <p:cNvPr id="9" name="Shape 7"/>
          <p:cNvSpPr/>
          <p:nvPr/>
        </p:nvSpPr>
        <p:spPr>
          <a:xfrm>
            <a:off x="719814" y="4908252"/>
            <a:ext cx="25399" cy="771227"/>
          </a:xfrm>
          <a:prstGeom prst="roundRect">
            <a:avLst>
              <a:gd name="adj" fmla="val 50001"/>
            </a:avLst>
          </a:prstGeom>
          <a:solidFill>
            <a:srgbClr val="2D2E34"/>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19814" y="1078805"/>
            <a:ext cx="10752067" cy="584398"/>
          </a:xfrm>
          <a:prstGeom prst="rect">
            <a:avLst/>
          </a:prstGeom>
          <a:noFill/>
          <a:ln/>
        </p:spPr>
        <p:txBody>
          <a:bodyPr wrap="none" lIns="0" tIns="0" rIns="0" bIns="0" rtlCol="0" anchor="t"/>
          <a:lstStyle/>
          <a:p>
            <a:pPr marL="0" indent="0" algn="l">
              <a:lnSpc>
                <a:spcPct val="104000"/>
              </a:lnSpc>
              <a:buNone/>
            </a:pPr>
            <a:r>
              <a:rPr lang="en-US" sz="3650" b="1" kern="0" spc="-37" dirty="0">
                <a:solidFill>
                  <a:srgbClr val="000000"/>
                </a:solidFill>
                <a:latin typeface="Montserrat Bold" pitchFamily="34" charset="0"/>
                <a:ea typeface="Montserrat Bold" pitchFamily="34" charset="-122"/>
                <a:cs typeface="Montserrat Bold" pitchFamily="34" charset="-120"/>
              </a:rPr>
              <a:t>7 Essential Leadership Qualities</a:t>
            </a:r>
            <a:endParaRPr lang="en-US" sz="36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9814" y="2074565"/>
            <a:ext cx="411351" cy="411361"/>
          </a:xfrm>
          <a:prstGeom prst="rect">
            <a:avLst/>
          </a:prstGeom>
        </p:spPr>
      </p:pic>
      <p:sp>
        <p:nvSpPr>
          <p:cNvPr id="4" name="Text 1"/>
          <p:cNvSpPr/>
          <p:nvPr/>
        </p:nvSpPr>
        <p:spPr>
          <a:xfrm>
            <a:off x="719814" y="2743002"/>
            <a:ext cx="3412643"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Communication</a:t>
            </a:r>
            <a:endParaRPr lang="en-US" sz="18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89526" y="2074565"/>
            <a:ext cx="411351" cy="411361"/>
          </a:xfrm>
          <a:prstGeom prst="rect">
            <a:avLst/>
          </a:prstGeom>
        </p:spPr>
      </p:pic>
      <p:sp>
        <p:nvSpPr>
          <p:cNvPr id="6" name="Text 2"/>
          <p:cNvSpPr/>
          <p:nvPr/>
        </p:nvSpPr>
        <p:spPr>
          <a:xfrm>
            <a:off x="4389526" y="2743002"/>
            <a:ext cx="3412643"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Integrity</a:t>
            </a:r>
            <a:endParaRPr lang="en-US" sz="18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59238" y="2074565"/>
            <a:ext cx="411351" cy="411361"/>
          </a:xfrm>
          <a:prstGeom prst="rect">
            <a:avLst/>
          </a:prstGeom>
        </p:spPr>
      </p:pic>
      <p:sp>
        <p:nvSpPr>
          <p:cNvPr id="8" name="Text 3"/>
          <p:cNvSpPr/>
          <p:nvPr/>
        </p:nvSpPr>
        <p:spPr>
          <a:xfrm>
            <a:off x="8059238" y="2743002"/>
            <a:ext cx="3412643"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Empathy</a:t>
            </a:r>
            <a:endParaRPr lang="en-US" sz="1800" dirty="0"/>
          </a:p>
        </p:txBody>
      </p:sp>
      <p:pic>
        <p:nvPicPr>
          <p:cNvPr id="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9814" y="3446562"/>
            <a:ext cx="411351" cy="411361"/>
          </a:xfrm>
          <a:prstGeom prst="rect">
            <a:avLst/>
          </a:prstGeom>
        </p:spPr>
      </p:pic>
      <p:sp>
        <p:nvSpPr>
          <p:cNvPr id="10" name="Text 4"/>
          <p:cNvSpPr/>
          <p:nvPr/>
        </p:nvSpPr>
        <p:spPr>
          <a:xfrm>
            <a:off x="719814" y="4114998"/>
            <a:ext cx="3412643"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Decision-Making</a:t>
            </a:r>
            <a:endParaRPr lang="en-US" sz="1800" dirty="0"/>
          </a:p>
        </p:txBody>
      </p:sp>
      <p:pic>
        <p:nvPicPr>
          <p:cNvPr id="1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89526" y="3446562"/>
            <a:ext cx="411351" cy="411361"/>
          </a:xfrm>
          <a:prstGeom prst="rect">
            <a:avLst/>
          </a:prstGeom>
        </p:spPr>
      </p:pic>
      <p:sp>
        <p:nvSpPr>
          <p:cNvPr id="12" name="Text 5"/>
          <p:cNvSpPr/>
          <p:nvPr/>
        </p:nvSpPr>
        <p:spPr>
          <a:xfrm>
            <a:off x="4389526" y="4114998"/>
            <a:ext cx="3412643"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Confidence</a:t>
            </a:r>
            <a:endParaRPr lang="en-US" sz="1800" dirty="0"/>
          </a:p>
        </p:txBody>
      </p:sp>
      <p:pic>
        <p:nvPicPr>
          <p:cNvPr id="13"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59238" y="3446562"/>
            <a:ext cx="411351" cy="411361"/>
          </a:xfrm>
          <a:prstGeom prst="rect">
            <a:avLst/>
          </a:prstGeom>
        </p:spPr>
      </p:pic>
      <p:sp>
        <p:nvSpPr>
          <p:cNvPr id="14" name="Text 6"/>
          <p:cNvSpPr/>
          <p:nvPr/>
        </p:nvSpPr>
        <p:spPr>
          <a:xfrm>
            <a:off x="8059238" y="4114998"/>
            <a:ext cx="3412643"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Adaptability</a:t>
            </a:r>
            <a:endParaRPr lang="en-US" sz="1800" dirty="0"/>
          </a:p>
        </p:txBody>
      </p:sp>
      <p:pic>
        <p:nvPicPr>
          <p:cNvPr id="15"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9814" y="4818559"/>
            <a:ext cx="411351" cy="411361"/>
          </a:xfrm>
          <a:prstGeom prst="rect">
            <a:avLst/>
          </a:prstGeom>
        </p:spPr>
      </p:pic>
      <p:sp>
        <p:nvSpPr>
          <p:cNvPr id="16" name="Text 7"/>
          <p:cNvSpPr/>
          <p:nvPr/>
        </p:nvSpPr>
        <p:spPr>
          <a:xfrm>
            <a:off x="719814" y="5486995"/>
            <a:ext cx="3412643"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Accountability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19814" y="711002"/>
            <a:ext cx="10752067" cy="584398"/>
          </a:xfrm>
          <a:prstGeom prst="rect">
            <a:avLst/>
          </a:prstGeom>
          <a:noFill/>
          <a:ln/>
        </p:spPr>
        <p:txBody>
          <a:bodyPr wrap="none" lIns="0" tIns="0" rIns="0" bIns="0" rtlCol="0" anchor="t"/>
          <a:lstStyle/>
          <a:p>
            <a:pPr marL="0" indent="0" algn="l">
              <a:lnSpc>
                <a:spcPct val="104000"/>
              </a:lnSpc>
              <a:buNone/>
            </a:pPr>
            <a:r>
              <a:rPr lang="en-US" sz="3650" b="1" kern="0" spc="-37" dirty="0">
                <a:solidFill>
                  <a:srgbClr val="000000"/>
                </a:solidFill>
                <a:latin typeface="Montserrat Bold" pitchFamily="34" charset="0"/>
                <a:ea typeface="Montserrat Bold" pitchFamily="34" charset="-122"/>
                <a:cs typeface="Montserrat Bold" pitchFamily="34" charset="-120"/>
              </a:rPr>
              <a:t>Communication &amp; Empathy</a:t>
            </a:r>
            <a:endParaRPr lang="en-US" sz="3650" dirty="0"/>
          </a:p>
        </p:txBody>
      </p:sp>
      <p:pic>
        <p:nvPicPr>
          <p:cNvPr id="3" name="Image 0" descr="preencoded.png"/>
          <p:cNvPicPr>
            <a:picLocks noChangeAspect="1"/>
          </p:cNvPicPr>
          <p:nvPr/>
        </p:nvPicPr>
        <p:blipFill>
          <a:blip r:embed="rId3"/>
          <a:stretch>
            <a:fillRect/>
          </a:stretch>
        </p:blipFill>
        <p:spPr>
          <a:xfrm>
            <a:off x="719814" y="1944886"/>
            <a:ext cx="6813181" cy="3860899"/>
          </a:xfrm>
          <a:prstGeom prst="rect">
            <a:avLst/>
          </a:prstGeom>
        </p:spPr>
      </p:pic>
      <p:sp>
        <p:nvSpPr>
          <p:cNvPr id="4" name="Text 1"/>
          <p:cNvSpPr/>
          <p:nvPr/>
        </p:nvSpPr>
        <p:spPr>
          <a:xfrm>
            <a:off x="8041181" y="1809552"/>
            <a:ext cx="3436951"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000000"/>
                </a:solidFill>
                <a:latin typeface="Montserrat Bold" pitchFamily="34" charset="0"/>
                <a:ea typeface="Montserrat Bold" pitchFamily="34" charset="-122"/>
                <a:cs typeface="Montserrat Bold" pitchFamily="34" charset="-120"/>
              </a:rPr>
              <a:t>Communication</a:t>
            </a:r>
            <a:endParaRPr lang="en-US" sz="1800" dirty="0"/>
          </a:p>
        </p:txBody>
      </p:sp>
      <p:sp>
        <p:nvSpPr>
          <p:cNvPr id="5" name="Text 2"/>
          <p:cNvSpPr/>
          <p:nvPr/>
        </p:nvSpPr>
        <p:spPr>
          <a:xfrm>
            <a:off x="8041181" y="2307431"/>
            <a:ext cx="3436951" cy="1686223"/>
          </a:xfrm>
          <a:prstGeom prst="rect">
            <a:avLst/>
          </a:prstGeom>
          <a:noFill/>
          <a:ln/>
        </p:spPr>
        <p:txBody>
          <a:bodyPr wrap="square" lIns="0" tIns="82276" rIns="0" bIns="0" rtlCol="0" anchor="t">
            <a:normAutofit/>
          </a:bodyPr>
          <a:lstStyle/>
          <a:p>
            <a:pPr marL="325120" indent="-325120" algn="l">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Express ideas clearly and confidently</a:t>
            </a:r>
            <a:endParaRPr lang="en-US" sz="1600" dirty="0"/>
          </a:p>
          <a:p>
            <a:pPr marL="325120" indent="-325120" algn="l">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Listen actively — not just wait to speak</a:t>
            </a:r>
            <a:endParaRPr lang="en-US" sz="1600" dirty="0"/>
          </a:p>
          <a:p>
            <a:pPr marL="325120" indent="-325120" algn="l">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Give constructive, honest feedback</a:t>
            </a:r>
            <a:endParaRPr lang="en-US" sz="1600" dirty="0"/>
          </a:p>
        </p:txBody>
      </p:sp>
      <p:sp>
        <p:nvSpPr>
          <p:cNvPr id="6" name="Text 3"/>
          <p:cNvSpPr/>
          <p:nvPr/>
        </p:nvSpPr>
        <p:spPr>
          <a:xfrm>
            <a:off x="8041181" y="4199334"/>
            <a:ext cx="3436951"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000000"/>
                </a:solidFill>
                <a:latin typeface="Montserrat Bold" pitchFamily="34" charset="0"/>
                <a:ea typeface="Montserrat Bold" pitchFamily="34" charset="-122"/>
                <a:cs typeface="Montserrat Bold" pitchFamily="34" charset="-120"/>
              </a:rPr>
              <a:t>Empathy</a:t>
            </a:r>
            <a:endParaRPr lang="en-US" sz="1800" dirty="0"/>
          </a:p>
        </p:txBody>
      </p:sp>
      <p:sp>
        <p:nvSpPr>
          <p:cNvPr id="7" name="Text 4"/>
          <p:cNvSpPr/>
          <p:nvPr/>
        </p:nvSpPr>
        <p:spPr>
          <a:xfrm>
            <a:off x="8041181" y="4697214"/>
            <a:ext cx="3436951" cy="1377752"/>
          </a:xfrm>
          <a:prstGeom prst="rect">
            <a:avLst/>
          </a:prstGeom>
          <a:noFill/>
          <a:ln/>
        </p:spPr>
        <p:txBody>
          <a:bodyPr wrap="square" lIns="0" tIns="82276" rIns="0" bIns="0" rtlCol="0" anchor="t">
            <a:normAutofit/>
          </a:bodyPr>
          <a:lstStyle/>
          <a:p>
            <a:pPr marL="325120" indent="-325120" algn="l">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Understand others' perspectives</a:t>
            </a:r>
            <a:endParaRPr lang="en-US" sz="1600" dirty="0"/>
          </a:p>
          <a:p>
            <a:pPr marL="325120" indent="-325120" algn="l">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Respect different opinions</a:t>
            </a:r>
            <a:endParaRPr lang="en-US" sz="1600" dirty="0"/>
          </a:p>
          <a:p>
            <a:pPr marL="325120" indent="-325120" algn="l">
              <a:lnSpc>
                <a:spcPct val="125000"/>
              </a:lnSpc>
              <a:buSzPct val="100000"/>
              <a:buChar char="•"/>
            </a:pPr>
            <a:r>
              <a:rPr lang="en-US" sz="1600" dirty="0">
                <a:solidFill>
                  <a:srgbClr val="3D3838"/>
                </a:solidFill>
                <a:latin typeface="Source Sans 3" pitchFamily="34" charset="0"/>
                <a:ea typeface="Source Sans 3" pitchFamily="34" charset="-122"/>
                <a:cs typeface="Source Sans 3" pitchFamily="34" charset="-120"/>
              </a:rPr>
              <a:t>Support teammates through challenges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19814" y="708422"/>
            <a:ext cx="10752067" cy="584398"/>
          </a:xfrm>
          <a:prstGeom prst="rect">
            <a:avLst/>
          </a:prstGeom>
          <a:noFill/>
          <a:ln/>
        </p:spPr>
        <p:txBody>
          <a:bodyPr wrap="none" lIns="0" tIns="0" rIns="0" bIns="0" rtlCol="0" anchor="t"/>
          <a:lstStyle/>
          <a:p>
            <a:pPr marL="0" indent="0" algn="l">
              <a:lnSpc>
                <a:spcPct val="104000"/>
              </a:lnSpc>
              <a:buNone/>
            </a:pPr>
            <a:r>
              <a:rPr lang="en-US" sz="3650" b="1" kern="0" spc="-37" dirty="0">
                <a:solidFill>
                  <a:srgbClr val="000000"/>
                </a:solidFill>
                <a:latin typeface="Montserrat Bold" pitchFamily="34" charset="0"/>
                <a:ea typeface="Montserrat Bold" pitchFamily="34" charset="-122"/>
                <a:cs typeface="Montserrat Bold" pitchFamily="34" charset="-120"/>
              </a:rPr>
              <a:t>Decision-Making &amp; Accountability</a:t>
            </a:r>
            <a:endParaRPr lang="en-US" sz="3650" dirty="0"/>
          </a:p>
        </p:txBody>
      </p:sp>
      <p:pic>
        <p:nvPicPr>
          <p:cNvPr id="3" name="Image 0" descr="preencoded.png"/>
          <p:cNvPicPr>
            <a:picLocks noChangeAspect="1"/>
          </p:cNvPicPr>
          <p:nvPr/>
        </p:nvPicPr>
        <p:blipFill>
          <a:blip r:embed="rId3"/>
          <a:stretch>
            <a:fillRect/>
          </a:stretch>
        </p:blipFill>
        <p:spPr>
          <a:xfrm>
            <a:off x="891954" y="1704181"/>
            <a:ext cx="10407687" cy="3905548"/>
          </a:xfrm>
          <a:prstGeom prst="rect">
            <a:avLst/>
          </a:prstGeom>
        </p:spPr>
      </p:pic>
      <p:sp>
        <p:nvSpPr>
          <p:cNvPr id="4" name="Text 1"/>
          <p:cNvSpPr/>
          <p:nvPr/>
        </p:nvSpPr>
        <p:spPr>
          <a:xfrm>
            <a:off x="9301273" y="4400542"/>
            <a:ext cx="1569794" cy="824566"/>
          </a:xfrm>
          <a:prstGeom prst="rect">
            <a:avLst/>
          </a:prstGeom>
          <a:noFill/>
          <a:ln/>
        </p:spPr>
        <p:txBody>
          <a:bodyPr wrap="square" lIns="0" tIns="0" rIns="0" bIns="0" rtlCol="0" anchor="t">
            <a:normAutofit/>
          </a:bodyPr>
          <a:lstStyle/>
          <a:p>
            <a:pPr marL="0" indent="0" algn="ctr">
              <a:lnSpc>
                <a:spcPct val="104000"/>
              </a:lnSpc>
              <a:buNone/>
            </a:pPr>
            <a:r>
              <a:rPr lang="en-US" sz="1700" b="1" kern="0" spc="-17" dirty="0">
                <a:solidFill>
                  <a:srgbClr val="3D3838"/>
                </a:solidFill>
                <a:latin typeface="Montserrat Bold" pitchFamily="34" charset="0"/>
                <a:ea typeface="Montserrat Bold" pitchFamily="34" charset="-122"/>
                <a:cs typeface="Montserrat Bold" pitchFamily="34" charset="-120"/>
              </a:rPr>
              <a:t>Accept Responsibility</a:t>
            </a:r>
            <a:endParaRPr lang="en-US" sz="1700" dirty="0"/>
          </a:p>
        </p:txBody>
      </p:sp>
      <p:sp>
        <p:nvSpPr>
          <p:cNvPr id="5" name="Text 2"/>
          <p:cNvSpPr/>
          <p:nvPr/>
        </p:nvSpPr>
        <p:spPr>
          <a:xfrm>
            <a:off x="7322903" y="4537970"/>
            <a:ext cx="1569794" cy="549710"/>
          </a:xfrm>
          <a:prstGeom prst="rect">
            <a:avLst/>
          </a:prstGeom>
          <a:noFill/>
          <a:ln/>
        </p:spPr>
        <p:txBody>
          <a:bodyPr wrap="square" lIns="0" tIns="0" rIns="0" bIns="0" rtlCol="0" anchor="t">
            <a:normAutofit/>
          </a:bodyPr>
          <a:lstStyle/>
          <a:p>
            <a:pPr marL="0" indent="0" algn="ctr">
              <a:lnSpc>
                <a:spcPct val="104000"/>
              </a:lnSpc>
              <a:buNone/>
            </a:pPr>
            <a:r>
              <a:rPr lang="en-US" sz="1700" b="1" kern="0" spc="-17" dirty="0">
                <a:solidFill>
                  <a:srgbClr val="3D3838"/>
                </a:solidFill>
                <a:latin typeface="Montserrat Bold" pitchFamily="34" charset="0"/>
                <a:ea typeface="Montserrat Bold" pitchFamily="34" charset="-122"/>
                <a:cs typeface="Montserrat Bold" pitchFamily="34" charset="-120"/>
              </a:rPr>
              <a:t>Make Decision</a:t>
            </a:r>
            <a:endParaRPr lang="en-US" sz="1700" dirty="0"/>
          </a:p>
        </p:txBody>
      </p:sp>
      <p:sp>
        <p:nvSpPr>
          <p:cNvPr id="6" name="Text 3"/>
          <p:cNvSpPr/>
          <p:nvPr/>
        </p:nvSpPr>
        <p:spPr>
          <a:xfrm>
            <a:off x="5355286" y="4537970"/>
            <a:ext cx="1569793" cy="549710"/>
          </a:xfrm>
          <a:prstGeom prst="rect">
            <a:avLst/>
          </a:prstGeom>
          <a:noFill/>
          <a:ln/>
        </p:spPr>
        <p:txBody>
          <a:bodyPr wrap="square" lIns="0" tIns="0" rIns="0" bIns="0" rtlCol="0" anchor="t">
            <a:normAutofit/>
          </a:bodyPr>
          <a:lstStyle/>
          <a:p>
            <a:pPr marL="0" indent="0" algn="ctr">
              <a:lnSpc>
                <a:spcPct val="104000"/>
              </a:lnSpc>
              <a:buNone/>
            </a:pPr>
            <a:r>
              <a:rPr lang="en-US" sz="1700" b="1" kern="0" spc="-17" dirty="0">
                <a:solidFill>
                  <a:srgbClr val="3D3838"/>
                </a:solidFill>
                <a:latin typeface="Montserrat Bold" pitchFamily="34" charset="0"/>
                <a:ea typeface="Montserrat Bold" pitchFamily="34" charset="-122"/>
                <a:cs typeface="Montserrat Bold" pitchFamily="34" charset="-120"/>
              </a:rPr>
              <a:t>Evaluate Options</a:t>
            </a:r>
            <a:endParaRPr lang="en-US" sz="1700" dirty="0"/>
          </a:p>
        </p:txBody>
      </p:sp>
      <p:sp>
        <p:nvSpPr>
          <p:cNvPr id="7" name="Text 4"/>
          <p:cNvSpPr/>
          <p:nvPr/>
        </p:nvSpPr>
        <p:spPr>
          <a:xfrm>
            <a:off x="3387668" y="4675398"/>
            <a:ext cx="1569793" cy="274855"/>
          </a:xfrm>
          <a:prstGeom prst="rect">
            <a:avLst/>
          </a:prstGeom>
          <a:noFill/>
          <a:ln/>
        </p:spPr>
        <p:txBody>
          <a:bodyPr wrap="none" lIns="0" tIns="0" rIns="0" bIns="0" rtlCol="0" anchor="t"/>
          <a:lstStyle/>
          <a:p>
            <a:pPr marL="0" indent="0" algn="ctr">
              <a:lnSpc>
                <a:spcPct val="104000"/>
              </a:lnSpc>
              <a:buNone/>
            </a:pPr>
            <a:r>
              <a:rPr lang="en-US" sz="1700" b="1" kern="0" spc="-17" dirty="0">
                <a:solidFill>
                  <a:srgbClr val="3D3838"/>
                </a:solidFill>
                <a:latin typeface="Montserrat Bold" pitchFamily="34" charset="0"/>
                <a:ea typeface="Montserrat Bold" pitchFamily="34" charset="-122"/>
                <a:cs typeface="Montserrat Bold" pitchFamily="34" charset="-120"/>
              </a:rPr>
              <a:t>Gather Facts</a:t>
            </a:r>
            <a:endParaRPr lang="en-US" sz="1700" dirty="0"/>
          </a:p>
        </p:txBody>
      </p:sp>
      <p:sp>
        <p:nvSpPr>
          <p:cNvPr id="8" name="Text 5"/>
          <p:cNvSpPr/>
          <p:nvPr/>
        </p:nvSpPr>
        <p:spPr>
          <a:xfrm>
            <a:off x="1377042" y="4537970"/>
            <a:ext cx="1569793" cy="549710"/>
          </a:xfrm>
          <a:prstGeom prst="rect">
            <a:avLst/>
          </a:prstGeom>
          <a:noFill/>
          <a:ln/>
        </p:spPr>
        <p:txBody>
          <a:bodyPr wrap="square" lIns="0" tIns="0" rIns="0" bIns="0" rtlCol="0" anchor="t">
            <a:normAutofit/>
          </a:bodyPr>
          <a:lstStyle/>
          <a:p>
            <a:pPr marL="0" indent="0" algn="ctr">
              <a:lnSpc>
                <a:spcPct val="104000"/>
              </a:lnSpc>
              <a:buNone/>
            </a:pPr>
            <a:r>
              <a:rPr lang="en-US" sz="1700" b="1" kern="0" spc="-17" dirty="0">
                <a:solidFill>
                  <a:srgbClr val="3D3838"/>
                </a:solidFill>
                <a:latin typeface="Montserrat Bold" pitchFamily="34" charset="0"/>
                <a:ea typeface="Montserrat Bold" pitchFamily="34" charset="-122"/>
                <a:cs typeface="Montserrat Bold" pitchFamily="34" charset="-120"/>
              </a:rPr>
              <a:t>Understand Problem</a:t>
            </a:r>
            <a:endParaRPr lang="en-US" sz="1700" dirty="0"/>
          </a:p>
        </p:txBody>
      </p:sp>
      <p:sp>
        <p:nvSpPr>
          <p:cNvPr id="9" name="Text 6"/>
          <p:cNvSpPr/>
          <p:nvPr/>
        </p:nvSpPr>
        <p:spPr>
          <a:xfrm>
            <a:off x="719814" y="5841107"/>
            <a:ext cx="11361652" cy="308471"/>
          </a:xfrm>
          <a:prstGeom prst="rect">
            <a:avLst/>
          </a:prstGeom>
          <a:noFill/>
          <a:ln/>
        </p:spPr>
        <p:txBody>
          <a:bodyPr wrap="none" lIns="0" tIns="0" rIns="0" bIns="0" rtlCol="0" anchor="t"/>
          <a:lstStyle/>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Strong leaders don't avoid tough decisions — they make them thoughtfully and </a:t>
            </a:r>
            <a:r>
              <a:rPr lang="en-US" sz="1600" b="1" dirty="0">
                <a:solidFill>
                  <a:srgbClr val="3D3838"/>
                </a:solidFill>
                <a:latin typeface="Source Sans 3 Bold" pitchFamily="34" charset="0"/>
                <a:ea typeface="Source Sans 3 Bold" pitchFamily="34" charset="-122"/>
                <a:cs typeface="Source Sans 3 Bold" pitchFamily="34" charset="-120"/>
              </a:rPr>
              <a:t>own the outcome</a:t>
            </a:r>
            <a:r>
              <a:rPr lang="en-US" sz="1600" dirty="0">
                <a:solidFill>
                  <a:srgbClr val="3D3838"/>
                </a:solidFill>
                <a:latin typeface="Source Sans 3" pitchFamily="34" charset="0"/>
                <a:ea typeface="Source Sans 3" pitchFamily="34" charset="-122"/>
                <a:cs typeface="Source Sans 3" pitchFamily="34" charset="-120"/>
              </a:rPr>
              <a: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19814" y="1381820"/>
            <a:ext cx="10752067" cy="584398"/>
          </a:xfrm>
          <a:prstGeom prst="rect">
            <a:avLst/>
          </a:prstGeom>
          <a:noFill/>
          <a:ln/>
        </p:spPr>
        <p:txBody>
          <a:bodyPr wrap="none" lIns="0" tIns="0" rIns="0" bIns="0" rtlCol="0" anchor="t"/>
          <a:lstStyle/>
          <a:p>
            <a:pPr marL="0" indent="0" algn="l">
              <a:lnSpc>
                <a:spcPct val="104000"/>
              </a:lnSpc>
              <a:buNone/>
            </a:pPr>
            <a:r>
              <a:rPr lang="en-US" sz="3650" b="1" kern="0" spc="-37" dirty="0">
                <a:solidFill>
                  <a:srgbClr val="000000"/>
                </a:solidFill>
                <a:latin typeface="Montserrat Bold" pitchFamily="34" charset="0"/>
                <a:ea typeface="Montserrat Bold" pitchFamily="34" charset="-122"/>
                <a:cs typeface="Montserrat Bold" pitchFamily="34" charset="-120"/>
              </a:rPr>
              <a:t>Real-World Leadership Examples</a:t>
            </a:r>
            <a:endParaRPr lang="en-US" sz="3650" dirty="0"/>
          </a:p>
        </p:txBody>
      </p:sp>
      <p:pic>
        <p:nvPicPr>
          <p:cNvPr id="3" name="Image 0" descr="preencoded.png"/>
          <p:cNvPicPr>
            <a:picLocks noChangeAspect="1"/>
          </p:cNvPicPr>
          <p:nvPr/>
        </p:nvPicPr>
        <p:blipFill>
          <a:blip r:embed="rId3"/>
          <a:stretch>
            <a:fillRect/>
          </a:stretch>
        </p:blipFill>
        <p:spPr>
          <a:xfrm>
            <a:off x="719814" y="2377579"/>
            <a:ext cx="1447168" cy="1808956"/>
          </a:xfrm>
          <a:prstGeom prst="rect">
            <a:avLst/>
          </a:prstGeom>
        </p:spPr>
      </p:pic>
      <p:sp>
        <p:nvSpPr>
          <p:cNvPr id="4" name="Text 1"/>
          <p:cNvSpPr/>
          <p:nvPr/>
        </p:nvSpPr>
        <p:spPr>
          <a:xfrm>
            <a:off x="719814" y="4443611"/>
            <a:ext cx="2495190"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A. P. J. Abdul Kalam</a:t>
            </a:r>
            <a:endParaRPr lang="en-US" sz="1800" dirty="0"/>
          </a:p>
        </p:txBody>
      </p:sp>
      <p:sp>
        <p:nvSpPr>
          <p:cNvPr id="5" name="Text 2"/>
          <p:cNvSpPr/>
          <p:nvPr/>
        </p:nvSpPr>
        <p:spPr>
          <a:xfrm>
            <a:off x="719814" y="4859139"/>
            <a:ext cx="2495190" cy="308471"/>
          </a:xfrm>
          <a:prstGeom prst="rect">
            <a:avLst/>
          </a:prstGeom>
          <a:noFill/>
          <a:ln/>
        </p:spPr>
        <p:txBody>
          <a:bodyPr wrap="none" lIns="0" tIns="0" rIns="0" bIns="0" rtlCol="0" anchor="t"/>
          <a:lstStyle/>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Vision and humility</a:t>
            </a:r>
            <a:endParaRPr lang="en-US" sz="1600" dirty="0"/>
          </a:p>
        </p:txBody>
      </p:sp>
      <p:pic>
        <p:nvPicPr>
          <p:cNvPr id="6" name="Image 1" descr="preencoded.png"/>
          <p:cNvPicPr>
            <a:picLocks noChangeAspect="1"/>
          </p:cNvPicPr>
          <p:nvPr/>
        </p:nvPicPr>
        <p:blipFill>
          <a:blip r:embed="rId4"/>
          <a:stretch>
            <a:fillRect/>
          </a:stretch>
        </p:blipFill>
        <p:spPr>
          <a:xfrm>
            <a:off x="3472073" y="2377579"/>
            <a:ext cx="1447168" cy="1808956"/>
          </a:xfrm>
          <a:prstGeom prst="rect">
            <a:avLst/>
          </a:prstGeom>
        </p:spPr>
      </p:pic>
      <p:sp>
        <p:nvSpPr>
          <p:cNvPr id="7" name="Text 3"/>
          <p:cNvSpPr/>
          <p:nvPr/>
        </p:nvSpPr>
        <p:spPr>
          <a:xfrm>
            <a:off x="3472073" y="4443611"/>
            <a:ext cx="2495190"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Ratan Tata</a:t>
            </a:r>
            <a:endParaRPr lang="en-US" sz="1800" dirty="0"/>
          </a:p>
        </p:txBody>
      </p:sp>
      <p:sp>
        <p:nvSpPr>
          <p:cNvPr id="8" name="Text 4"/>
          <p:cNvSpPr/>
          <p:nvPr/>
        </p:nvSpPr>
        <p:spPr>
          <a:xfrm>
            <a:off x="3472073" y="4859139"/>
            <a:ext cx="2495190" cy="308471"/>
          </a:xfrm>
          <a:prstGeom prst="rect">
            <a:avLst/>
          </a:prstGeom>
          <a:noFill/>
          <a:ln/>
        </p:spPr>
        <p:txBody>
          <a:bodyPr wrap="none" lIns="0" tIns="0" rIns="0" bIns="0" rtlCol="0" anchor="t"/>
          <a:lstStyle/>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Integrity and empathy</a:t>
            </a:r>
            <a:endParaRPr lang="en-US" sz="1600" dirty="0"/>
          </a:p>
        </p:txBody>
      </p:sp>
      <p:pic>
        <p:nvPicPr>
          <p:cNvPr id="9" name="Image 2" descr="preencoded.png"/>
          <p:cNvPicPr>
            <a:picLocks noChangeAspect="1"/>
          </p:cNvPicPr>
          <p:nvPr/>
        </p:nvPicPr>
        <p:blipFill>
          <a:blip r:embed="rId5"/>
          <a:stretch>
            <a:fillRect/>
          </a:stretch>
        </p:blipFill>
        <p:spPr>
          <a:xfrm>
            <a:off x="6224333" y="2377579"/>
            <a:ext cx="1447168" cy="1808956"/>
          </a:xfrm>
          <a:prstGeom prst="rect">
            <a:avLst/>
          </a:prstGeom>
        </p:spPr>
      </p:pic>
      <p:sp>
        <p:nvSpPr>
          <p:cNvPr id="10" name="Text 5"/>
          <p:cNvSpPr/>
          <p:nvPr/>
        </p:nvSpPr>
        <p:spPr>
          <a:xfrm>
            <a:off x="6224333" y="4443611"/>
            <a:ext cx="2495190"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Sundar Pichai</a:t>
            </a:r>
            <a:endParaRPr lang="en-US" sz="1800" dirty="0"/>
          </a:p>
        </p:txBody>
      </p:sp>
      <p:sp>
        <p:nvSpPr>
          <p:cNvPr id="11" name="Text 6"/>
          <p:cNvSpPr/>
          <p:nvPr/>
        </p:nvSpPr>
        <p:spPr>
          <a:xfrm>
            <a:off x="6224333" y="4859139"/>
            <a:ext cx="2495190" cy="616942"/>
          </a:xfrm>
          <a:prstGeom prst="rect">
            <a:avLst/>
          </a:prstGeom>
          <a:noFill/>
          <a:ln/>
        </p:spPr>
        <p:txBody>
          <a:bodyPr wrap="square" lIns="0" tIns="0" rIns="0" bIns="0" rtlCol="0" anchor="t">
            <a:normAutofit/>
          </a:bodyPr>
          <a:lstStyle/>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Calm leadership and adaptability</a:t>
            </a:r>
            <a:endParaRPr lang="en-US" sz="1600" dirty="0"/>
          </a:p>
        </p:txBody>
      </p:sp>
      <p:pic>
        <p:nvPicPr>
          <p:cNvPr id="12" name="Image 3" descr="preencoded.png"/>
          <p:cNvPicPr>
            <a:picLocks noChangeAspect="1"/>
          </p:cNvPicPr>
          <p:nvPr/>
        </p:nvPicPr>
        <p:blipFill>
          <a:blip r:embed="rId6"/>
          <a:stretch>
            <a:fillRect/>
          </a:stretch>
        </p:blipFill>
        <p:spPr>
          <a:xfrm>
            <a:off x="8976592" y="2377579"/>
            <a:ext cx="1447268" cy="1809055"/>
          </a:xfrm>
          <a:prstGeom prst="rect">
            <a:avLst/>
          </a:prstGeom>
        </p:spPr>
      </p:pic>
      <p:sp>
        <p:nvSpPr>
          <p:cNvPr id="13" name="Text 7"/>
          <p:cNvSpPr/>
          <p:nvPr/>
        </p:nvSpPr>
        <p:spPr>
          <a:xfrm>
            <a:off x="8976592" y="4443710"/>
            <a:ext cx="2495289"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Nelson Mandela</a:t>
            </a:r>
            <a:endParaRPr lang="en-US" sz="1800" dirty="0"/>
          </a:p>
        </p:txBody>
      </p:sp>
      <p:sp>
        <p:nvSpPr>
          <p:cNvPr id="14" name="Text 8"/>
          <p:cNvSpPr/>
          <p:nvPr/>
        </p:nvSpPr>
        <p:spPr>
          <a:xfrm>
            <a:off x="8976592" y="4859238"/>
            <a:ext cx="2495289" cy="308471"/>
          </a:xfrm>
          <a:prstGeom prst="rect">
            <a:avLst/>
          </a:prstGeom>
          <a:noFill/>
          <a:ln/>
        </p:spPr>
        <p:txBody>
          <a:bodyPr wrap="none" lIns="0" tIns="0" rIns="0" bIns="0" rtlCol="0" anchor="t"/>
          <a:lstStyle/>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Resilience and courage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719814" y="692051"/>
            <a:ext cx="6180181" cy="1168797"/>
          </a:xfrm>
          <a:prstGeom prst="rect">
            <a:avLst/>
          </a:prstGeom>
          <a:noFill/>
          <a:ln/>
        </p:spPr>
        <p:txBody>
          <a:bodyPr wrap="square" lIns="0" tIns="0" rIns="0" bIns="0" rtlCol="0" anchor="t">
            <a:normAutofit/>
          </a:bodyPr>
          <a:lstStyle/>
          <a:p>
            <a:pPr marL="0" indent="0" algn="l">
              <a:lnSpc>
                <a:spcPct val="104000"/>
              </a:lnSpc>
              <a:buNone/>
            </a:pPr>
            <a:r>
              <a:rPr lang="en-US" sz="3650" b="1" kern="0" spc="-37" dirty="0">
                <a:solidFill>
                  <a:srgbClr val="000000"/>
                </a:solidFill>
                <a:latin typeface="Montserrat Bold" pitchFamily="34" charset="0"/>
                <a:ea typeface="Montserrat Bold" pitchFamily="34" charset="-122"/>
                <a:cs typeface="Montserrat Bold" pitchFamily="34" charset="-120"/>
              </a:rPr>
              <a:t>Leadership in Student Life</a:t>
            </a:r>
            <a:endParaRPr lang="en-US" sz="3650" dirty="0"/>
          </a:p>
        </p:txBody>
      </p:sp>
      <p:sp>
        <p:nvSpPr>
          <p:cNvPr id="4" name="Text 1"/>
          <p:cNvSpPr/>
          <p:nvPr/>
        </p:nvSpPr>
        <p:spPr>
          <a:xfrm>
            <a:off x="719814" y="2169319"/>
            <a:ext cx="6789766" cy="308471"/>
          </a:xfrm>
          <a:prstGeom prst="rect">
            <a:avLst/>
          </a:prstGeom>
          <a:noFill/>
          <a:ln/>
        </p:spPr>
        <p:txBody>
          <a:bodyPr wrap="none" lIns="0" tIns="0" rIns="0" bIns="0" rtlCol="0" anchor="t"/>
          <a:lstStyle/>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You don't need a title to lead.</a:t>
            </a:r>
            <a:endParaRPr lang="en-US" sz="1600" dirty="0"/>
          </a:p>
        </p:txBody>
      </p:sp>
      <p:sp>
        <p:nvSpPr>
          <p:cNvPr id="5" name="Shape 2"/>
          <p:cNvSpPr/>
          <p:nvPr/>
        </p:nvSpPr>
        <p:spPr>
          <a:xfrm>
            <a:off x="719814" y="2709168"/>
            <a:ext cx="6180181" cy="709910"/>
          </a:xfrm>
          <a:prstGeom prst="roundRect">
            <a:avLst>
              <a:gd name="adj" fmla="val 4346"/>
            </a:avLst>
          </a:prstGeom>
          <a:solidFill>
            <a:srgbClr val="F2EEEE"/>
          </a:solidFill>
          <a:ln/>
        </p:spPr>
      </p:sp>
      <p:sp>
        <p:nvSpPr>
          <p:cNvPr id="6" name="Text 3"/>
          <p:cNvSpPr/>
          <p:nvPr/>
        </p:nvSpPr>
        <p:spPr>
          <a:xfrm>
            <a:off x="925489" y="2914848"/>
            <a:ext cx="5768831" cy="298549"/>
          </a:xfrm>
          <a:prstGeom prst="rect">
            <a:avLst/>
          </a:prstGeom>
          <a:noFill/>
          <a:ln/>
        </p:spPr>
        <p:txBody>
          <a:bodyPr wrap="none" lIns="0" tIns="0" rIns="0" bIns="0" rtlCol="0" anchor="t"/>
          <a:lstStyle/>
          <a:p>
            <a:pPr marL="0" indent="0" algn="l">
              <a:lnSpc>
                <a:spcPct val="104000"/>
              </a:lnSpc>
              <a:buNone/>
            </a:pPr>
            <a:r>
              <a:rPr lang="en-US" sz="1800" b="1" kern="0" spc="-18" dirty="0">
                <a:solidFill>
                  <a:srgbClr val="000000"/>
                </a:solidFill>
                <a:latin typeface="Twemoji Mozilla" pitchFamily="34" charset="0"/>
                <a:ea typeface="Twemoji Mozilla" pitchFamily="34" charset="-122"/>
                <a:cs typeface="Twemoji Mozilla" pitchFamily="34" charset="-120"/>
              </a:rPr>
              <a:t>🎯</a:t>
            </a:r>
            <a:r>
              <a:rPr lang="en-US" sz="1800" b="1" kern="0" spc="-18" dirty="0">
                <a:solidFill>
                  <a:srgbClr val="3D3838"/>
                </a:solidFill>
                <a:latin typeface="Montserrat Bold" pitchFamily="34" charset="0"/>
                <a:ea typeface="Montserrat Bold" pitchFamily="34" charset="-122"/>
                <a:cs typeface="Montserrat Bold" pitchFamily="34" charset="-120"/>
              </a:rPr>
              <a:t> Lead a Project</a:t>
            </a:r>
            <a:endParaRPr lang="en-US" sz="1800" dirty="0"/>
          </a:p>
        </p:txBody>
      </p:sp>
      <p:sp>
        <p:nvSpPr>
          <p:cNvPr id="7" name="Shape 4"/>
          <p:cNvSpPr/>
          <p:nvPr/>
        </p:nvSpPr>
        <p:spPr>
          <a:xfrm>
            <a:off x="719814" y="3624759"/>
            <a:ext cx="6180181" cy="709910"/>
          </a:xfrm>
          <a:prstGeom prst="roundRect">
            <a:avLst>
              <a:gd name="adj" fmla="val 4346"/>
            </a:avLst>
          </a:prstGeom>
          <a:solidFill>
            <a:srgbClr val="F2EEEE"/>
          </a:solidFill>
          <a:ln/>
        </p:spPr>
      </p:sp>
      <p:sp>
        <p:nvSpPr>
          <p:cNvPr id="8" name="Text 5"/>
          <p:cNvSpPr/>
          <p:nvPr/>
        </p:nvSpPr>
        <p:spPr>
          <a:xfrm>
            <a:off x="925489" y="3830439"/>
            <a:ext cx="5768831" cy="298549"/>
          </a:xfrm>
          <a:prstGeom prst="rect">
            <a:avLst/>
          </a:prstGeom>
          <a:noFill/>
          <a:ln/>
        </p:spPr>
        <p:txBody>
          <a:bodyPr wrap="none" lIns="0" tIns="0" rIns="0" bIns="0" rtlCol="0" anchor="t"/>
          <a:lstStyle/>
          <a:p>
            <a:pPr marL="0" indent="0" algn="l">
              <a:lnSpc>
                <a:spcPct val="104000"/>
              </a:lnSpc>
              <a:buNone/>
            </a:pPr>
            <a:r>
              <a:rPr lang="en-US" sz="1800" b="1" kern="0" spc="-18" dirty="0">
                <a:solidFill>
                  <a:srgbClr val="000000"/>
                </a:solidFill>
                <a:latin typeface="Twemoji Mozilla" pitchFamily="34" charset="0"/>
                <a:ea typeface="Twemoji Mozilla" pitchFamily="34" charset="-122"/>
                <a:cs typeface="Twemoji Mozilla" pitchFamily="34" charset="-120"/>
              </a:rPr>
              <a:t>📋</a:t>
            </a:r>
            <a:r>
              <a:rPr lang="en-US" sz="1800" b="1" kern="0" spc="-18" dirty="0">
                <a:solidFill>
                  <a:srgbClr val="3D3838"/>
                </a:solidFill>
                <a:latin typeface="Montserrat Bold" pitchFamily="34" charset="0"/>
                <a:ea typeface="Montserrat Bold" pitchFamily="34" charset="-122"/>
                <a:cs typeface="Montserrat Bold" pitchFamily="34" charset="-120"/>
              </a:rPr>
              <a:t> Organize Events</a:t>
            </a:r>
            <a:endParaRPr lang="en-US" sz="1800" dirty="0"/>
          </a:p>
        </p:txBody>
      </p:sp>
      <p:sp>
        <p:nvSpPr>
          <p:cNvPr id="9" name="Shape 6"/>
          <p:cNvSpPr/>
          <p:nvPr/>
        </p:nvSpPr>
        <p:spPr>
          <a:xfrm>
            <a:off x="719814" y="4540349"/>
            <a:ext cx="6180181" cy="709910"/>
          </a:xfrm>
          <a:prstGeom prst="roundRect">
            <a:avLst>
              <a:gd name="adj" fmla="val 4346"/>
            </a:avLst>
          </a:prstGeom>
          <a:solidFill>
            <a:srgbClr val="F2EEEE"/>
          </a:solidFill>
          <a:ln/>
        </p:spPr>
      </p:sp>
      <p:sp>
        <p:nvSpPr>
          <p:cNvPr id="10" name="Text 7"/>
          <p:cNvSpPr/>
          <p:nvPr/>
        </p:nvSpPr>
        <p:spPr>
          <a:xfrm>
            <a:off x="925489" y="4746030"/>
            <a:ext cx="5768831" cy="298549"/>
          </a:xfrm>
          <a:prstGeom prst="rect">
            <a:avLst/>
          </a:prstGeom>
          <a:noFill/>
          <a:ln/>
        </p:spPr>
        <p:txBody>
          <a:bodyPr wrap="none" lIns="0" tIns="0" rIns="0" bIns="0" rtlCol="0" anchor="t"/>
          <a:lstStyle/>
          <a:p>
            <a:pPr marL="0" indent="0" algn="l">
              <a:lnSpc>
                <a:spcPct val="104000"/>
              </a:lnSpc>
              <a:buNone/>
            </a:pPr>
            <a:r>
              <a:rPr lang="en-US" sz="1800" b="1" kern="0" spc="-18" dirty="0">
                <a:solidFill>
                  <a:srgbClr val="000000"/>
                </a:solidFill>
                <a:latin typeface="Twemoji Mozilla" pitchFamily="34" charset="0"/>
                <a:ea typeface="Twemoji Mozilla" pitchFamily="34" charset="-122"/>
                <a:cs typeface="Twemoji Mozilla" pitchFamily="34" charset="-120"/>
              </a:rPr>
              <a:t>🤝</a:t>
            </a:r>
            <a:r>
              <a:rPr lang="en-US" sz="1800" b="1" kern="0" spc="-18" dirty="0">
                <a:solidFill>
                  <a:srgbClr val="3D3838"/>
                </a:solidFill>
                <a:latin typeface="Montserrat Bold" pitchFamily="34" charset="0"/>
                <a:ea typeface="Montserrat Bold" pitchFamily="34" charset="-122"/>
                <a:cs typeface="Montserrat Bold" pitchFamily="34" charset="-120"/>
              </a:rPr>
              <a:t> Resolve Conflicts</a:t>
            </a:r>
            <a:endParaRPr lang="en-US" sz="1800" dirty="0"/>
          </a:p>
        </p:txBody>
      </p:sp>
      <p:sp>
        <p:nvSpPr>
          <p:cNvPr id="11" name="Shape 8"/>
          <p:cNvSpPr/>
          <p:nvPr/>
        </p:nvSpPr>
        <p:spPr>
          <a:xfrm>
            <a:off x="719814" y="5455940"/>
            <a:ext cx="6180181" cy="709910"/>
          </a:xfrm>
          <a:prstGeom prst="roundRect">
            <a:avLst>
              <a:gd name="adj" fmla="val 4346"/>
            </a:avLst>
          </a:prstGeom>
          <a:solidFill>
            <a:srgbClr val="F2EEEE"/>
          </a:solidFill>
          <a:ln/>
        </p:spPr>
      </p:sp>
      <p:sp>
        <p:nvSpPr>
          <p:cNvPr id="12" name="Text 9"/>
          <p:cNvSpPr/>
          <p:nvPr/>
        </p:nvSpPr>
        <p:spPr>
          <a:xfrm>
            <a:off x="925489" y="5661620"/>
            <a:ext cx="5768831" cy="298549"/>
          </a:xfrm>
          <a:prstGeom prst="rect">
            <a:avLst/>
          </a:prstGeom>
          <a:noFill/>
          <a:ln/>
        </p:spPr>
        <p:txBody>
          <a:bodyPr wrap="none" lIns="0" tIns="0" rIns="0" bIns="0" rtlCol="0" anchor="t"/>
          <a:lstStyle/>
          <a:p>
            <a:pPr marL="0" indent="0" algn="l">
              <a:lnSpc>
                <a:spcPct val="104000"/>
              </a:lnSpc>
              <a:buNone/>
            </a:pPr>
            <a:r>
              <a:rPr lang="en-US" sz="1800" b="1" kern="0" spc="-18" dirty="0">
                <a:solidFill>
                  <a:srgbClr val="000000"/>
                </a:solidFill>
                <a:latin typeface="Twemoji Mozilla" pitchFamily="34" charset="0"/>
                <a:ea typeface="Twemoji Mozilla" pitchFamily="34" charset="-122"/>
                <a:cs typeface="Twemoji Mozilla" pitchFamily="34" charset="-120"/>
              </a:rPr>
              <a:t>⚡</a:t>
            </a:r>
            <a:r>
              <a:rPr lang="en-US" sz="1800" b="1" kern="0" spc="-18" dirty="0">
                <a:solidFill>
                  <a:srgbClr val="3D3838"/>
                </a:solidFill>
                <a:latin typeface="Montserrat Bold" pitchFamily="34" charset="0"/>
                <a:ea typeface="Montserrat Bold" pitchFamily="34" charset="-122"/>
                <a:cs typeface="Montserrat Bold" pitchFamily="34" charset="-120"/>
              </a:rPr>
              <a:t> Take Initiative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19814" y="654546"/>
            <a:ext cx="10752067" cy="584398"/>
          </a:xfrm>
          <a:prstGeom prst="rect">
            <a:avLst/>
          </a:prstGeom>
          <a:noFill/>
          <a:ln/>
        </p:spPr>
        <p:txBody>
          <a:bodyPr wrap="none" lIns="0" tIns="0" rIns="0" bIns="0" rtlCol="0" anchor="t"/>
          <a:lstStyle/>
          <a:p>
            <a:pPr marL="0" indent="0" algn="l">
              <a:lnSpc>
                <a:spcPct val="104000"/>
              </a:lnSpc>
              <a:buNone/>
            </a:pPr>
            <a:r>
              <a:rPr lang="en-US" sz="3650" b="1" kern="0" spc="-37" dirty="0">
                <a:solidFill>
                  <a:srgbClr val="000000"/>
                </a:solidFill>
                <a:latin typeface="Montserrat Bold" pitchFamily="34" charset="0"/>
                <a:ea typeface="Montserrat Bold" pitchFamily="34" charset="-122"/>
                <a:cs typeface="Montserrat Bold" pitchFamily="34" charset="-120"/>
              </a:rPr>
              <a:t>How to Develop Leadership Skills</a:t>
            </a:r>
            <a:endParaRPr lang="en-US" sz="3650" dirty="0"/>
          </a:p>
        </p:txBody>
      </p:sp>
      <p:sp>
        <p:nvSpPr>
          <p:cNvPr id="3" name="Shape 1"/>
          <p:cNvSpPr/>
          <p:nvPr/>
        </p:nvSpPr>
        <p:spPr>
          <a:xfrm>
            <a:off x="719814" y="1650305"/>
            <a:ext cx="2533686" cy="1818481"/>
          </a:xfrm>
          <a:prstGeom prst="roundRect">
            <a:avLst>
              <a:gd name="adj" fmla="val 1697"/>
            </a:avLst>
          </a:prstGeom>
          <a:solidFill>
            <a:srgbClr val="F2EEEE"/>
          </a:solidFill>
          <a:ln/>
        </p:spPr>
      </p:sp>
      <p:sp>
        <p:nvSpPr>
          <p:cNvPr id="4" name="Shape 2"/>
          <p:cNvSpPr/>
          <p:nvPr/>
        </p:nvSpPr>
        <p:spPr>
          <a:xfrm>
            <a:off x="925489" y="1855986"/>
            <a:ext cx="617026" cy="617041"/>
          </a:xfrm>
          <a:prstGeom prst="ellipse">
            <a:avLst/>
          </a:prstGeom>
          <a:solidFill>
            <a:srgbClr val="2D2E34"/>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5149" y="2025650"/>
            <a:ext cx="277607" cy="277614"/>
          </a:xfrm>
          <a:prstGeom prst="rect">
            <a:avLst/>
          </a:prstGeom>
        </p:spPr>
      </p:pic>
      <p:sp>
        <p:nvSpPr>
          <p:cNvPr id="6" name="Text 3"/>
          <p:cNvSpPr/>
          <p:nvPr/>
        </p:nvSpPr>
        <p:spPr>
          <a:xfrm>
            <a:off x="925489" y="2678708"/>
            <a:ext cx="2122335"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Take Initiative</a:t>
            </a:r>
            <a:endParaRPr lang="en-US" sz="1800" dirty="0"/>
          </a:p>
        </p:txBody>
      </p:sp>
      <p:sp>
        <p:nvSpPr>
          <p:cNvPr id="7" name="Shape 4"/>
          <p:cNvSpPr/>
          <p:nvPr/>
        </p:nvSpPr>
        <p:spPr>
          <a:xfrm>
            <a:off x="3459175" y="1650305"/>
            <a:ext cx="2533785" cy="1818481"/>
          </a:xfrm>
          <a:prstGeom prst="roundRect">
            <a:avLst>
              <a:gd name="adj" fmla="val 1697"/>
            </a:avLst>
          </a:prstGeom>
          <a:solidFill>
            <a:srgbClr val="F2EEEE"/>
          </a:solidFill>
          <a:ln/>
        </p:spPr>
      </p:sp>
      <p:sp>
        <p:nvSpPr>
          <p:cNvPr id="8" name="Shape 5"/>
          <p:cNvSpPr/>
          <p:nvPr/>
        </p:nvSpPr>
        <p:spPr>
          <a:xfrm>
            <a:off x="3664851" y="1855986"/>
            <a:ext cx="617026" cy="617041"/>
          </a:xfrm>
          <a:prstGeom prst="ellipse">
            <a:avLst/>
          </a:prstGeom>
          <a:solidFill>
            <a:srgbClr val="2D2E34"/>
          </a:solidFill>
          <a:ln/>
        </p:spPr>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34510" y="2025650"/>
            <a:ext cx="277607" cy="277614"/>
          </a:xfrm>
          <a:prstGeom prst="rect">
            <a:avLst/>
          </a:prstGeom>
        </p:spPr>
      </p:pic>
      <p:sp>
        <p:nvSpPr>
          <p:cNvPr id="10" name="Text 6"/>
          <p:cNvSpPr/>
          <p:nvPr/>
        </p:nvSpPr>
        <p:spPr>
          <a:xfrm>
            <a:off x="3664851" y="2678708"/>
            <a:ext cx="2122434" cy="584398"/>
          </a:xfrm>
          <a:prstGeom prst="rect">
            <a:avLst/>
          </a:prstGeom>
          <a:noFill/>
          <a:ln/>
        </p:spPr>
        <p:txBody>
          <a:bodyPr wrap="square" lIns="0" tIns="0" rIns="0" bIns="0" rtlCol="0" anchor="t">
            <a:normAutofit/>
          </a:bodyPr>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Improve Communication</a:t>
            </a:r>
            <a:endParaRPr lang="en-US" sz="1800" dirty="0"/>
          </a:p>
        </p:txBody>
      </p:sp>
      <p:sp>
        <p:nvSpPr>
          <p:cNvPr id="11" name="Shape 7"/>
          <p:cNvSpPr/>
          <p:nvPr/>
        </p:nvSpPr>
        <p:spPr>
          <a:xfrm>
            <a:off x="6198636" y="1650305"/>
            <a:ext cx="2533785" cy="1818481"/>
          </a:xfrm>
          <a:prstGeom prst="roundRect">
            <a:avLst>
              <a:gd name="adj" fmla="val 1697"/>
            </a:avLst>
          </a:prstGeom>
          <a:solidFill>
            <a:srgbClr val="F2EEEE"/>
          </a:solidFill>
          <a:ln/>
        </p:spPr>
      </p:sp>
      <p:sp>
        <p:nvSpPr>
          <p:cNvPr id="12" name="Shape 8"/>
          <p:cNvSpPr/>
          <p:nvPr/>
        </p:nvSpPr>
        <p:spPr>
          <a:xfrm>
            <a:off x="6404311" y="1855986"/>
            <a:ext cx="617026" cy="617041"/>
          </a:xfrm>
          <a:prstGeom prst="ellipse">
            <a:avLst/>
          </a:prstGeom>
          <a:solidFill>
            <a:srgbClr val="2D2E34"/>
          </a:solidFill>
          <a:ln/>
        </p:spPr>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73971" y="2025650"/>
            <a:ext cx="277607" cy="277614"/>
          </a:xfrm>
          <a:prstGeom prst="rect">
            <a:avLst/>
          </a:prstGeom>
        </p:spPr>
      </p:pic>
      <p:sp>
        <p:nvSpPr>
          <p:cNvPr id="14" name="Text 9"/>
          <p:cNvSpPr/>
          <p:nvPr/>
        </p:nvSpPr>
        <p:spPr>
          <a:xfrm>
            <a:off x="6404311" y="2678708"/>
            <a:ext cx="2122434"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Learn to Listen</a:t>
            </a:r>
            <a:endParaRPr lang="en-US" sz="1800" dirty="0"/>
          </a:p>
        </p:txBody>
      </p:sp>
      <p:sp>
        <p:nvSpPr>
          <p:cNvPr id="15" name="Shape 10"/>
          <p:cNvSpPr/>
          <p:nvPr/>
        </p:nvSpPr>
        <p:spPr>
          <a:xfrm>
            <a:off x="8938096" y="1650305"/>
            <a:ext cx="2533785" cy="1818481"/>
          </a:xfrm>
          <a:prstGeom prst="roundRect">
            <a:avLst>
              <a:gd name="adj" fmla="val 1697"/>
            </a:avLst>
          </a:prstGeom>
          <a:solidFill>
            <a:srgbClr val="F2EEEE"/>
          </a:solidFill>
          <a:ln/>
        </p:spPr>
      </p:sp>
      <p:sp>
        <p:nvSpPr>
          <p:cNvPr id="16" name="Shape 11"/>
          <p:cNvSpPr/>
          <p:nvPr/>
        </p:nvSpPr>
        <p:spPr>
          <a:xfrm>
            <a:off x="9143771" y="1855986"/>
            <a:ext cx="617026" cy="617041"/>
          </a:xfrm>
          <a:prstGeom prst="ellipse">
            <a:avLst/>
          </a:prstGeom>
          <a:solidFill>
            <a:srgbClr val="2D2E34"/>
          </a:solidFill>
          <a:ln/>
        </p:spPr>
      </p:sp>
      <p:pic>
        <p:nvPicPr>
          <p:cNvPr id="1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13431" y="2025650"/>
            <a:ext cx="277607" cy="277614"/>
          </a:xfrm>
          <a:prstGeom prst="rect">
            <a:avLst/>
          </a:prstGeom>
        </p:spPr>
      </p:pic>
      <p:sp>
        <p:nvSpPr>
          <p:cNvPr id="18" name="Text 12"/>
          <p:cNvSpPr/>
          <p:nvPr/>
        </p:nvSpPr>
        <p:spPr>
          <a:xfrm>
            <a:off x="9143771" y="2678708"/>
            <a:ext cx="2122434" cy="584398"/>
          </a:xfrm>
          <a:prstGeom prst="rect">
            <a:avLst/>
          </a:prstGeom>
          <a:noFill/>
          <a:ln/>
        </p:spPr>
        <p:txBody>
          <a:bodyPr wrap="square" lIns="0" tIns="0" rIns="0" bIns="0" rtlCol="0" anchor="t">
            <a:normAutofit/>
          </a:bodyPr>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Accept Responsibility</a:t>
            </a:r>
            <a:endParaRPr lang="en-US" sz="1800" dirty="0"/>
          </a:p>
        </p:txBody>
      </p:sp>
      <p:sp>
        <p:nvSpPr>
          <p:cNvPr id="19" name="Shape 13"/>
          <p:cNvSpPr/>
          <p:nvPr/>
        </p:nvSpPr>
        <p:spPr>
          <a:xfrm>
            <a:off x="719814" y="3674467"/>
            <a:ext cx="10752067" cy="1526282"/>
          </a:xfrm>
          <a:prstGeom prst="roundRect">
            <a:avLst>
              <a:gd name="adj" fmla="val 2021"/>
            </a:avLst>
          </a:prstGeom>
          <a:solidFill>
            <a:srgbClr val="F2EEEE"/>
          </a:solidFill>
          <a:ln/>
        </p:spPr>
      </p:sp>
      <p:sp>
        <p:nvSpPr>
          <p:cNvPr id="20" name="Shape 14"/>
          <p:cNvSpPr/>
          <p:nvPr/>
        </p:nvSpPr>
        <p:spPr>
          <a:xfrm>
            <a:off x="925489" y="3880148"/>
            <a:ext cx="617026" cy="617041"/>
          </a:xfrm>
          <a:prstGeom prst="ellipse">
            <a:avLst/>
          </a:prstGeom>
          <a:solidFill>
            <a:srgbClr val="2D2E34"/>
          </a:solidFill>
          <a:ln/>
        </p:spPr>
      </p:sp>
      <p:pic>
        <p:nvPicPr>
          <p:cNvPr id="2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95149" y="4049812"/>
            <a:ext cx="277607" cy="277614"/>
          </a:xfrm>
          <a:prstGeom prst="rect">
            <a:avLst/>
          </a:prstGeom>
        </p:spPr>
      </p:pic>
      <p:sp>
        <p:nvSpPr>
          <p:cNvPr id="22" name="Text 15"/>
          <p:cNvSpPr/>
          <p:nvPr/>
        </p:nvSpPr>
        <p:spPr>
          <a:xfrm>
            <a:off x="925489" y="4702870"/>
            <a:ext cx="10340716"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Learn from Failures</a:t>
            </a:r>
            <a:endParaRPr lang="en-US" sz="1800" dirty="0"/>
          </a:p>
        </p:txBody>
      </p:sp>
      <p:sp>
        <p:nvSpPr>
          <p:cNvPr id="23" name="Text 16"/>
          <p:cNvSpPr/>
          <p:nvPr/>
        </p:nvSpPr>
        <p:spPr>
          <a:xfrm>
            <a:off x="1028277" y="5663505"/>
            <a:ext cx="11053188" cy="308471"/>
          </a:xfrm>
          <a:prstGeom prst="rect">
            <a:avLst/>
          </a:prstGeom>
          <a:noFill/>
          <a:ln/>
        </p:spPr>
        <p:txBody>
          <a:bodyPr wrap="none" lIns="0" tIns="0" rIns="0" bIns="0" rtlCol="0" anchor="t"/>
          <a:lstStyle/>
          <a:p>
            <a:pPr marL="0" indent="0" algn="l">
              <a:lnSpc>
                <a:spcPct val="125000"/>
              </a:lnSpc>
              <a:buNone/>
            </a:pP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9814" y="1444327"/>
            <a:ext cx="10752067" cy="584398"/>
          </a:xfrm>
          <a:prstGeom prst="rect">
            <a:avLst/>
          </a:prstGeom>
          <a:noFill/>
          <a:ln/>
        </p:spPr>
        <p:txBody>
          <a:bodyPr wrap="none" lIns="0" tIns="0" rIns="0" bIns="0" rtlCol="0" anchor="t"/>
          <a:lstStyle/>
          <a:p>
            <a:pPr marL="0" indent="0" algn="l">
              <a:lnSpc>
                <a:spcPct val="104000"/>
              </a:lnSpc>
              <a:buNone/>
            </a:pPr>
            <a:r>
              <a:rPr lang="en-US" sz="3650" b="1" kern="0" spc="-37" dirty="0">
                <a:solidFill>
                  <a:srgbClr val="000000"/>
                </a:solidFill>
                <a:latin typeface="Montserrat Bold" pitchFamily="34" charset="0"/>
                <a:ea typeface="Montserrat Bold" pitchFamily="34" charset="-122"/>
                <a:cs typeface="Montserrat Bold" pitchFamily="34" charset="-120"/>
              </a:rPr>
              <a:t>Key Takeaways</a:t>
            </a:r>
            <a:endParaRPr lang="en-US" sz="3650" dirty="0"/>
          </a:p>
        </p:txBody>
      </p:sp>
      <p:sp>
        <p:nvSpPr>
          <p:cNvPr id="3" name="Shape 1"/>
          <p:cNvSpPr/>
          <p:nvPr/>
        </p:nvSpPr>
        <p:spPr>
          <a:xfrm>
            <a:off x="719814" y="2440087"/>
            <a:ext cx="3446872" cy="703560"/>
          </a:xfrm>
          <a:prstGeom prst="roundRect">
            <a:avLst>
              <a:gd name="adj" fmla="val 4385"/>
            </a:avLst>
          </a:prstGeom>
          <a:solidFill>
            <a:srgbClr val="F2EEEE"/>
          </a:solidFill>
          <a:ln/>
        </p:spPr>
      </p:sp>
      <p:sp>
        <p:nvSpPr>
          <p:cNvPr id="4" name="Text 2"/>
          <p:cNvSpPr/>
          <p:nvPr/>
        </p:nvSpPr>
        <p:spPr>
          <a:xfrm>
            <a:off x="925489" y="2645767"/>
            <a:ext cx="3035522"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Inspire, Don't Command</a:t>
            </a:r>
            <a:endParaRPr lang="en-US" sz="1800" dirty="0"/>
          </a:p>
        </p:txBody>
      </p:sp>
      <p:sp>
        <p:nvSpPr>
          <p:cNvPr id="5" name="Shape 3"/>
          <p:cNvSpPr/>
          <p:nvPr/>
        </p:nvSpPr>
        <p:spPr>
          <a:xfrm>
            <a:off x="4372362" y="2440087"/>
            <a:ext cx="3446872" cy="703560"/>
          </a:xfrm>
          <a:prstGeom prst="roundRect">
            <a:avLst>
              <a:gd name="adj" fmla="val 4385"/>
            </a:avLst>
          </a:prstGeom>
          <a:solidFill>
            <a:srgbClr val="F2EEEE"/>
          </a:solidFill>
          <a:ln/>
        </p:spPr>
      </p:sp>
      <p:sp>
        <p:nvSpPr>
          <p:cNvPr id="6" name="Text 4"/>
          <p:cNvSpPr/>
          <p:nvPr/>
        </p:nvSpPr>
        <p:spPr>
          <a:xfrm>
            <a:off x="4578037" y="2645767"/>
            <a:ext cx="3035522"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Build on Core Values</a:t>
            </a:r>
            <a:endParaRPr lang="en-US" sz="1800" dirty="0"/>
          </a:p>
        </p:txBody>
      </p:sp>
      <p:sp>
        <p:nvSpPr>
          <p:cNvPr id="7" name="Shape 5"/>
          <p:cNvSpPr/>
          <p:nvPr/>
        </p:nvSpPr>
        <p:spPr>
          <a:xfrm>
            <a:off x="8024909" y="2440087"/>
            <a:ext cx="3446872" cy="703560"/>
          </a:xfrm>
          <a:prstGeom prst="roundRect">
            <a:avLst>
              <a:gd name="adj" fmla="val 4385"/>
            </a:avLst>
          </a:prstGeom>
          <a:solidFill>
            <a:srgbClr val="F2EEEE"/>
          </a:solidFill>
          <a:ln/>
        </p:spPr>
      </p:sp>
      <p:sp>
        <p:nvSpPr>
          <p:cNvPr id="8" name="Text 6"/>
          <p:cNvSpPr/>
          <p:nvPr/>
        </p:nvSpPr>
        <p:spPr>
          <a:xfrm>
            <a:off x="8230585" y="2645767"/>
            <a:ext cx="3035522" cy="292199"/>
          </a:xfrm>
          <a:prstGeom prst="rect">
            <a:avLst/>
          </a:prstGeom>
          <a:noFill/>
          <a:ln/>
        </p:spPr>
        <p:txBody>
          <a:bodyPr wrap="none" lIns="0" tIns="0" rIns="0" bIns="0" rtlCol="0" anchor="t"/>
          <a:lstStyle/>
          <a:p>
            <a:pPr marL="0" indent="0" algn="l">
              <a:lnSpc>
                <a:spcPct val="104000"/>
              </a:lnSpc>
              <a:buNone/>
            </a:pPr>
            <a:r>
              <a:rPr lang="en-US" sz="1800" b="1" kern="0" spc="-18" dirty="0">
                <a:solidFill>
                  <a:srgbClr val="3D3838"/>
                </a:solidFill>
                <a:latin typeface="Montserrat Bold" pitchFamily="34" charset="0"/>
                <a:ea typeface="Montserrat Bold" pitchFamily="34" charset="-122"/>
                <a:cs typeface="Montserrat Bold" pitchFamily="34" charset="-120"/>
              </a:rPr>
              <a:t>Practice Every Day</a:t>
            </a:r>
            <a:endParaRPr lang="en-US" sz="1800" dirty="0"/>
          </a:p>
        </p:txBody>
      </p:sp>
      <p:sp>
        <p:nvSpPr>
          <p:cNvPr id="9" name="Text 7"/>
          <p:cNvSpPr/>
          <p:nvPr/>
        </p:nvSpPr>
        <p:spPr>
          <a:xfrm>
            <a:off x="1028277" y="3606403"/>
            <a:ext cx="11053188" cy="308471"/>
          </a:xfrm>
          <a:prstGeom prst="rect">
            <a:avLst/>
          </a:prstGeom>
          <a:noFill/>
          <a:ln/>
        </p:spPr>
        <p:txBody>
          <a:bodyPr wrap="none" lIns="0" tIns="0" rIns="0" bIns="0" rtlCol="0" anchor="t"/>
          <a:lstStyle/>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Leadership is about making others better because of your presence.</a:t>
            </a:r>
            <a:endParaRPr lang="en-US" sz="1600" dirty="0"/>
          </a:p>
        </p:txBody>
      </p:sp>
      <p:sp>
        <p:nvSpPr>
          <p:cNvPr id="10" name="Shape 8"/>
          <p:cNvSpPr/>
          <p:nvPr/>
        </p:nvSpPr>
        <p:spPr>
          <a:xfrm>
            <a:off x="719814" y="3375025"/>
            <a:ext cx="25399" cy="771227"/>
          </a:xfrm>
          <a:prstGeom prst="roundRect">
            <a:avLst>
              <a:gd name="adj" fmla="val 50001"/>
            </a:avLst>
          </a:prstGeom>
          <a:solidFill>
            <a:srgbClr val="2D2E34"/>
          </a:solidFill>
          <a:ln/>
        </p:spPr>
      </p:sp>
      <p:sp>
        <p:nvSpPr>
          <p:cNvPr id="11" name="Text 9"/>
          <p:cNvSpPr/>
          <p:nvPr/>
        </p:nvSpPr>
        <p:spPr>
          <a:xfrm>
            <a:off x="719814" y="4454723"/>
            <a:ext cx="10752067" cy="584398"/>
          </a:xfrm>
          <a:prstGeom prst="rect">
            <a:avLst/>
          </a:prstGeom>
          <a:noFill/>
          <a:ln/>
        </p:spPr>
        <p:txBody>
          <a:bodyPr wrap="none" lIns="0" tIns="0" rIns="0" bIns="0" rtlCol="0" anchor="t"/>
          <a:lstStyle/>
          <a:p>
            <a:pPr marL="0" indent="0" algn="l">
              <a:lnSpc>
                <a:spcPct val="104000"/>
              </a:lnSpc>
              <a:buNone/>
            </a:pPr>
            <a:r>
              <a:rPr lang="en-US" sz="3650" b="1" kern="0" spc="-37" dirty="0">
                <a:solidFill>
                  <a:srgbClr val="000000"/>
                </a:solidFill>
                <a:latin typeface="Montserrat Bold" pitchFamily="34" charset="0"/>
                <a:ea typeface="Montserrat Bold" pitchFamily="34" charset="-122"/>
                <a:cs typeface="Montserrat Bold" pitchFamily="34" charset="-120"/>
              </a:rPr>
              <a:t>Thank You</a:t>
            </a:r>
            <a:endParaRPr lang="en-US" sz="3650" dirty="0"/>
          </a:p>
        </p:txBody>
      </p:sp>
      <p:sp>
        <p:nvSpPr>
          <p:cNvPr id="12" name="Text 10"/>
          <p:cNvSpPr/>
          <p:nvPr/>
        </p:nvSpPr>
        <p:spPr>
          <a:xfrm>
            <a:off x="719814" y="5121374"/>
            <a:ext cx="10752067" cy="292199"/>
          </a:xfrm>
          <a:prstGeom prst="rect">
            <a:avLst/>
          </a:prstGeom>
          <a:noFill/>
          <a:ln/>
        </p:spPr>
        <p:txBody>
          <a:bodyPr wrap="none" lIns="0" tIns="0" rIns="0" bIns="0" rtlCol="0" anchor="t"/>
          <a:lstStyle/>
          <a:p>
            <a:pPr marL="0" indent="0" algn="l">
              <a:lnSpc>
                <a:spcPct val="104000"/>
              </a:lnSpc>
              <a:buNone/>
            </a:pP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900</Words>
  <Application>Microsoft Office PowerPoint</Application>
  <PresentationFormat>Widescreen</PresentationFormat>
  <Paragraphs>99</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Source Sans 3</vt:lpstr>
      <vt:lpstr>Source Sans 3 Bold</vt:lpstr>
      <vt:lpstr>Montserrat Bold</vt:lpstr>
      <vt:lpstr>Arial</vt:lpstr>
      <vt:lpstr>Twemoji Mozilla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AGILAN THIYAGARAJAN</dc:creator>
  <cp:lastModifiedBy>AGILAN THIYAGARAJAN</cp:lastModifiedBy>
  <cp:revision>2</cp:revision>
  <dcterms:created xsi:type="dcterms:W3CDTF">2026-08-22T06:10:46Z</dcterms:created>
  <dcterms:modified xsi:type="dcterms:W3CDTF">2026-08-22T06:12:57Z</dcterms:modified>
</cp:coreProperties>
</file>