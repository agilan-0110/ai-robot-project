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188720"/>
            <a:ext cx="5669280" cy="5669280"/>
          </a:xfrm>
          <a:prstGeom prst="ellipse">
            <a:avLst/>
          </a:prstGeom>
          <a:ln w="25400">
            <a:solidFill>
              <a:srgbClr val="1F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274320"/>
            <a:ext cx="3840480" cy="3840480"/>
          </a:xfrm>
          <a:prstGeom prst="ellipse">
            <a:avLst/>
          </a:prstGeom>
          <a:ln w="19050">
            <a:solidFill>
              <a:srgbClr val="2E86F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0561320" y="1234440"/>
            <a:ext cx="320040" cy="3200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Basics of Motion, Force &amp; Energy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quick-start guide to core mechanics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617720"/>
            <a:ext cx="822960" cy="0"/>
          </a:xfrm>
          <a:prstGeom prst="line">
            <a:avLst/>
          </a:prstGeom>
          <a:noFill/>
          <a:ln w="38100">
            <a:solidFill>
              <a:srgbClr val="FFB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Deck  •  10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1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10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Physics?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03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matter, energy, and motion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1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51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Three Laws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9443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and why objects move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11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930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78561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vs. potential energy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1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525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33425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62686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 that pulls things down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93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1755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46811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energy travels without matter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173736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13233F"/>
          </a:solidFill>
          <a:ln/>
        </p:spPr>
      </p:sp>
      <p:sp>
        <p:nvSpPr>
          <p:cNvPr id="25" name="Shape 23"/>
          <p:cNvSpPr/>
          <p:nvPr/>
        </p:nvSpPr>
        <p:spPr>
          <a:xfrm>
            <a:off x="9646920" y="2286000"/>
            <a:ext cx="640080" cy="64008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26" name="Text 24"/>
          <p:cNvSpPr/>
          <p:nvPr/>
        </p:nvSpPr>
        <p:spPr>
          <a:xfrm>
            <a:off x="96469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54964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m·a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95360" y="37033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that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this whole deck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Physics?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explains how and why the universe behaves the way it does — from a dropped pencil to a launching rocket.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76200" dist="25400" dir="5400000">
              <a:srgbClr val="1F3A63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80360"/>
            <a:ext cx="548640" cy="54864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50208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mass that takes up space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6060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76200" dist="25400" dir="5400000">
              <a:srgbClr val="1F3A63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880360"/>
            <a:ext cx="548640" cy="54864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566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950208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capacity to do work or cause change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76200" dist="25400" dir="5400000">
              <a:srgbClr val="1F3A63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2880360"/>
            <a:ext cx="548640" cy="54864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950208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position changes over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06840" y="26060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AF1FF"/>
          </a:solidFill>
          <a:ln/>
          <a:effectLst>
            <a:outerShdw sx="100000" sy="100000" kx="0" ky="0" algn="bl" rotWithShape="0" blurRad="76200" dist="25400" dir="5400000">
              <a:srgbClr val="1F3A63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2880360"/>
            <a:ext cx="548640" cy="54864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9720" y="3566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3950208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or pull between objects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LAWS  • 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 of Inertia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at rest stays at rest, and an object in motion stays in motion at constant velocity — unless acted on by an unbalanced force.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00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lurch forward when a car brakes suddenly — their bodies want to keep moving.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691640"/>
            <a:ext cx="4617720" cy="4114800"/>
          </a:xfrm>
          <a:prstGeom prst="roundRect">
            <a:avLst>
              <a:gd name="adj" fmla="val 2667"/>
            </a:avLst>
          </a:prstGeom>
          <a:solidFill>
            <a:srgbClr val="13233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23317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FFB020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2743200"/>
            <a:ext cx="2743200" cy="0"/>
          </a:xfrm>
          <a:prstGeom prst="line">
            <a:avLst/>
          </a:prstGeom>
          <a:noFill/>
          <a:ln w="19050">
            <a:solidFill>
              <a:srgbClr val="3A4E7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22376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38862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2E8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4297680"/>
            <a:ext cx="502920" cy="0"/>
          </a:xfrm>
          <a:prstGeom prst="line">
            <a:avLst/>
          </a:prstGeom>
          <a:noFill/>
          <a:ln w="31750">
            <a:solidFill>
              <a:srgbClr val="2E8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8732520" y="4187952"/>
            <a:ext cx="219456" cy="219456"/>
          </a:xfrm>
          <a:prstGeom prst="triangle">
            <a:avLst/>
          </a:prstGeom>
          <a:solidFill>
            <a:srgbClr val="2E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946404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moving in a straight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a force stops 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LAWS  • 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= Mass x Acceleration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1F3A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m·a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(N) = Mass (kg) x Acceleration (m/s²)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force needed to move heavier objects, or to speed up faster. Push a shopping cart harder to accelerate it quicker — or to move a fuller one at the same rate.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cart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35440" y="2514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2926080"/>
            <a:ext cx="489204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017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35440" y="3017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3429000"/>
            <a:ext cx="489204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required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440" y="35204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4069080"/>
            <a:ext cx="4892040" cy="0"/>
          </a:xfrm>
          <a:prstGeom prst="line">
            <a:avLst/>
          </a:prstGeom>
          <a:noFill/>
          <a:ln w="19050">
            <a:solidFill>
              <a:srgbClr val="1323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2062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kg  x  2 m/s²  =  20 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LAWS  • 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&amp; Reaction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action, there is an equal and opposite reaction. Forces always come in pairs.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EAF1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43200"/>
            <a:ext cx="548640" cy="54864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761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swimmer pushes water backward with their arms and legs.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914400" y="4709160"/>
            <a:ext cx="320040" cy="274320"/>
          </a:xfrm>
          <a:prstGeom prst="triangle">
            <a:avLst/>
          </a:prstGeom>
          <a:solidFill>
            <a:srgbClr val="2E86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34440" y="4846320"/>
            <a:ext cx="3200400" cy="0"/>
          </a:xfrm>
          <a:prstGeom prst="line">
            <a:avLst/>
          </a:prstGeom>
          <a:noFill/>
          <a:ln w="38100">
            <a:solidFill>
              <a:srgbClr val="2E8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46888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1323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4320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761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pushes the swimmer forward with equal force.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744200" y="4846320"/>
            <a:ext cx="-3200400" cy="0"/>
          </a:xfrm>
          <a:prstGeom prst="line">
            <a:avLst/>
          </a:prstGeom>
          <a:noFill/>
          <a:ln w="38100">
            <a:solidFill>
              <a:srgbClr val="FFB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5400000">
            <a:off x="7360920" y="4709160"/>
            <a:ext cx="320040" cy="274320"/>
          </a:xfrm>
          <a:prstGeom prst="triangl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Kinetic vs. Potential Energy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the ability to do work. It comes in many forms — these two are the foundation.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AF1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ENERGY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 = m·g·h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energy based on an object's height or position — like a ball held at the top of a hill.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892040"/>
            <a:ext cx="2377440" cy="822960"/>
          </a:xfrm>
          <a:prstGeom prst="rtTriangle">
            <a:avLst/>
          </a:prstGeom>
          <a:solidFill>
            <a:srgbClr val="1F3A63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4526280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33172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13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ENERGY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 = 1/2·m·v²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34747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motion — the faster or heavier the object, the more kinetic energy it has.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5257800"/>
            <a:ext cx="4572000" cy="0"/>
          </a:xfrm>
          <a:prstGeom prst="line">
            <a:avLst/>
          </a:prstGeom>
          <a:noFill/>
          <a:ln w="19050">
            <a:solidFill>
              <a:srgbClr val="3A4E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4709160"/>
            <a:ext cx="384048" cy="384048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4901184"/>
            <a:ext cx="502920" cy="0"/>
          </a:xfrm>
          <a:prstGeom prst="line">
            <a:avLst/>
          </a:prstGeom>
          <a:noFill/>
          <a:ln w="31750">
            <a:solidFill>
              <a:srgbClr val="2E8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8778240" y="4791456"/>
            <a:ext cx="219456" cy="219456"/>
          </a:xfrm>
          <a:prstGeom prst="triangle">
            <a:avLst/>
          </a:prstGeom>
          <a:solidFill>
            <a:srgbClr val="2E86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OF NATURE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the force that pulls two masses toward each other. On Earth, it accelerates falling objects at a constant rate.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= 9.8 m/s²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36499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an object falls, it speeds 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about 9.8 meters per second.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feather and a hammer dropped together in a vacuum (no air resistance) hit the ground at the same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1645920"/>
            <a:ext cx="4617720" cy="4160520"/>
          </a:xfrm>
          <a:prstGeom prst="roundRect">
            <a:avLst>
              <a:gd name="adj" fmla="val 2637"/>
            </a:avLst>
          </a:prstGeom>
          <a:solidFill>
            <a:srgbClr val="13233F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1965960"/>
            <a:ext cx="0" cy="502920"/>
          </a:xfrm>
          <a:prstGeom prst="line">
            <a:avLst/>
          </a:prstGeom>
          <a:noFill/>
          <a:ln w="25400">
            <a:solidFill>
              <a:srgbClr val="3A4E7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052560" y="3017520"/>
            <a:ext cx="0" cy="502920"/>
          </a:xfrm>
          <a:prstGeom prst="line">
            <a:avLst/>
          </a:prstGeom>
          <a:noFill/>
          <a:ln w="25400">
            <a:solidFill>
              <a:srgbClr val="3A4E7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052560" y="4069080"/>
            <a:ext cx="0" cy="502920"/>
          </a:xfrm>
          <a:prstGeom prst="line">
            <a:avLst/>
          </a:prstGeom>
          <a:noFill/>
          <a:ln w="25400">
            <a:solidFill>
              <a:srgbClr val="3A4E7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823960" y="507492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0" y="5669280"/>
            <a:ext cx="4069080" cy="0"/>
          </a:xfrm>
          <a:prstGeom prst="line">
            <a:avLst/>
          </a:prstGeom>
          <a:noFill/>
          <a:ln w="25400">
            <a:solidFill>
              <a:srgbClr val="3A4E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8288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pulls all falling objects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its center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 MOTION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carries energy from one place to another without transporting matter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698480" cy="1554480"/>
          </a:xfrm>
          <a:prstGeom prst="roundRect">
            <a:avLst>
              <a:gd name="adj" fmla="val 5882"/>
            </a:avLst>
          </a:prstGeom>
          <a:solidFill>
            <a:srgbClr val="1F3A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spc="-400" kern="0" dirty="0">
                <a:solidFill>
                  <a:srgbClr val="2E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~~~~~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two wave peaks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45720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height of the wave (its energy)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45720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waves pass per second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F3A6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resist changes to their motion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F3A6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4884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578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m·a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drives acceleration, scaled by mass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F3A6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14884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578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Reaction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force has an equal, opposite pair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F3A63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1330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(KE) and position (PE) both store energy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47472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F3A63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70332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1330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all masses toward each other at 9.8 m/s²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47472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F3A63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370332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1330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energy from place to place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reviewing — physics is just the rules the universe plays by.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FUNDAMENTALS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2026-08-18T10:08:49Z</dcterms:created>
  <dcterms:modified xsi:type="dcterms:W3CDTF">2026-08-18T10:08:49Z</dcterms:modified>
</cp:coreProperties>
</file>